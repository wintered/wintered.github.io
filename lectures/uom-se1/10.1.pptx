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80" r:id="rId2"/>
    <p:sldId id="638" r:id="rId3"/>
    <p:sldId id="636" r:id="rId4"/>
    <p:sldId id="637" r:id="rId5"/>
    <p:sldId id="612" r:id="rId6"/>
    <p:sldId id="613" r:id="rId7"/>
    <p:sldId id="575" r:id="rId8"/>
    <p:sldId id="627" r:id="rId9"/>
    <p:sldId id="626" r:id="rId10"/>
    <p:sldId id="604" r:id="rId11"/>
    <p:sldId id="629" r:id="rId12"/>
    <p:sldId id="631" r:id="rId13"/>
    <p:sldId id="628" r:id="rId14"/>
    <p:sldId id="632" r:id="rId15"/>
    <p:sldId id="643" r:id="rId16"/>
    <p:sldId id="645" r:id="rId17"/>
    <p:sldId id="640" r:id="rId18"/>
    <p:sldId id="502" r:id="rId19"/>
    <p:sldId id="615" r:id="rId20"/>
    <p:sldId id="616" r:id="rId21"/>
    <p:sldId id="619" r:id="rId22"/>
    <p:sldId id="633" r:id="rId23"/>
    <p:sldId id="634" r:id="rId24"/>
    <p:sldId id="618" r:id="rId25"/>
    <p:sldId id="561" r:id="rId26"/>
    <p:sldId id="647" r:id="rId27"/>
    <p:sldId id="648" r:id="rId28"/>
    <p:sldId id="646" r:id="rId29"/>
    <p:sldId id="607" r:id="rId30"/>
    <p:sldId id="649" r:id="rId31"/>
    <p:sldId id="562" r:id="rId32"/>
    <p:sldId id="428" r:id="rId33"/>
    <p:sldId id="650" r:id="rId34"/>
    <p:sldId id="429" r:id="rId35"/>
    <p:sldId id="622" r:id="rId36"/>
    <p:sldId id="623" r:id="rId37"/>
    <p:sldId id="467" r:id="rId38"/>
    <p:sldId id="512" r:id="rId39"/>
    <p:sldId id="565" r:id="rId40"/>
    <p:sldId id="543" r:id="rId41"/>
    <p:sldId id="515" r:id="rId42"/>
    <p:sldId id="601" r:id="rId43"/>
    <p:sldId id="281" r:id="rId44"/>
    <p:sldId id="283" r:id="rId45"/>
    <p:sldId id="608" r:id="rId46"/>
    <p:sldId id="602" r:id="rId47"/>
    <p:sldId id="624" r:id="rId48"/>
    <p:sldId id="275" r:id="rId49"/>
  </p:sldIdLst>
  <p:sldSz cx="12192000" cy="6858000"/>
  <p:notesSz cx="6858000" cy="9144000"/>
  <p:custDataLst>
    <p:tags r:id="rId5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2"/>
    <p:restoredTop sz="94677"/>
  </p:normalViewPr>
  <p:slideViewPr>
    <p:cSldViewPr snapToGrid="0">
      <p:cViewPr varScale="1">
        <p:scale>
          <a:sx n="80" d="100"/>
          <a:sy n="80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Vulnerabilities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General</c:formatCode>
                <c:ptCount val="18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  <c:pt idx="17">
                  <c:v>2025</c:v>
                </c:pt>
              </c:numCache>
            </c:num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5632</c:v>
                </c:pt>
                <c:pt idx="1">
                  <c:v>5736</c:v>
                </c:pt>
                <c:pt idx="2">
                  <c:v>4652</c:v>
                </c:pt>
                <c:pt idx="3">
                  <c:v>4155</c:v>
                </c:pt>
                <c:pt idx="4">
                  <c:v>5297</c:v>
                </c:pt>
                <c:pt idx="5">
                  <c:v>5191</c:v>
                </c:pt>
                <c:pt idx="6">
                  <c:v>7946</c:v>
                </c:pt>
                <c:pt idx="7">
                  <c:v>6484</c:v>
                </c:pt>
                <c:pt idx="8">
                  <c:v>6447</c:v>
                </c:pt>
                <c:pt idx="9">
                  <c:v>14714</c:v>
                </c:pt>
                <c:pt idx="10">
                  <c:v>16556</c:v>
                </c:pt>
                <c:pt idx="11">
                  <c:v>17305</c:v>
                </c:pt>
                <c:pt idx="12">
                  <c:v>18323</c:v>
                </c:pt>
                <c:pt idx="13">
                  <c:v>20153</c:v>
                </c:pt>
                <c:pt idx="14">
                  <c:v>25084</c:v>
                </c:pt>
                <c:pt idx="15">
                  <c:v>29066</c:v>
                </c:pt>
                <c:pt idx="16">
                  <c:v>40303</c:v>
                </c:pt>
                <c:pt idx="17">
                  <c:v>43020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93-E147-8F33-5FC9559F07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2141991160"/>
        <c:axId val="-2142147400"/>
      </c:lineChart>
      <c:catAx>
        <c:axId val="-2141991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42147400"/>
        <c:crosses val="autoZero"/>
        <c:auto val="1"/>
        <c:lblAlgn val="ctr"/>
        <c:lblOffset val="100"/>
        <c:noMultiLvlLbl val="0"/>
      </c:catAx>
      <c:valAx>
        <c:axId val="-2142147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41991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Vulnerabilities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Sheet1!$A$2:$A$19</c:f>
              <c:numCache>
                <c:formatCode>General</c:formatCode>
                <c:ptCount val="18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  <c:pt idx="17">
                  <c:v>2025</c:v>
                </c:pt>
              </c:numCache>
            </c:num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5632</c:v>
                </c:pt>
                <c:pt idx="1">
                  <c:v>5736</c:v>
                </c:pt>
                <c:pt idx="2">
                  <c:v>4652</c:v>
                </c:pt>
                <c:pt idx="3">
                  <c:v>4155</c:v>
                </c:pt>
                <c:pt idx="4">
                  <c:v>5297</c:v>
                </c:pt>
                <c:pt idx="5">
                  <c:v>5191</c:v>
                </c:pt>
                <c:pt idx="6">
                  <c:v>7946</c:v>
                </c:pt>
                <c:pt idx="7">
                  <c:v>6484</c:v>
                </c:pt>
                <c:pt idx="8">
                  <c:v>6447</c:v>
                </c:pt>
                <c:pt idx="9">
                  <c:v>14714</c:v>
                </c:pt>
                <c:pt idx="10">
                  <c:v>16556</c:v>
                </c:pt>
                <c:pt idx="11">
                  <c:v>17305</c:v>
                </c:pt>
                <c:pt idx="12">
                  <c:v>18323</c:v>
                </c:pt>
                <c:pt idx="13">
                  <c:v>20153</c:v>
                </c:pt>
                <c:pt idx="14">
                  <c:v>25084</c:v>
                </c:pt>
                <c:pt idx="15">
                  <c:v>29066</c:v>
                </c:pt>
                <c:pt idx="16">
                  <c:v>40303</c:v>
                </c:pt>
                <c:pt idx="17">
                  <c:v>43020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93-E147-8F33-5FC9559F07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-2141991160"/>
        <c:axId val="-2142147400"/>
      </c:lineChart>
      <c:catAx>
        <c:axId val="-2141991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42147400"/>
        <c:crosses val="autoZero"/>
        <c:auto val="1"/>
        <c:lblAlgn val="ctr"/>
        <c:lblOffset val="100"/>
        <c:noMultiLvlLbl val="0"/>
      </c:catAx>
      <c:valAx>
        <c:axId val="-2142147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41991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7D19F-C277-F54A-B043-DC484A0EC657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02EF4-A585-444A-9E66-704DA9992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513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02EF4-A585-444A-9E66-704DA99925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29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CE53-40D9-363E-E93F-F40E1FAEC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7795F-71D9-62B2-7CAC-0B608E152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93AD0-BC69-6FBA-379F-4F922EA5A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E812F-DF77-6AC8-BEF4-109FCCAD0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2C453-E740-7FD6-C404-87103A0A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5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BF35-F824-0267-4427-DFC677AD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A15AC-BD3D-C045-F9EA-02358EDC8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2DE46-3011-1E90-8BBA-A35084B6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6096-5031-8EFB-631C-B92036B1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BFA3B-EECC-17C7-F718-7AC189F08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D06E-6B11-8847-FCBF-C80B99AB4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CA750-661D-F83F-0835-D6EBC8763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38F32-05A3-8AE1-F81E-647156894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0CE04-7938-985D-3B30-1CE130C2F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4C861-285A-11F9-7136-8834E3310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7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30DA-AEA0-743B-F0F0-04D07BEE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F9D72-43EB-D22C-F00E-A599D3F31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100E86-C521-9EBC-18D8-310EE4122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FB43C-E2BA-DCB9-7BF7-BAE572EB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65F35-A3BC-549A-F292-65CCFEC9B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71F5B-E08D-F3F6-92A6-3412561F5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1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620F-D553-2DD5-5332-5AA0A8AF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7EAA7-9055-4D97-8FBE-E7E9A60DB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C33C7-4C55-16AA-E065-297821F06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E659B-B440-86C0-9156-5772474DC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757F86-9F6F-8531-2CC9-0E7EAF1E51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ADD74B-660D-2B3E-441A-4E4882A2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2BFF9A-3F8F-4E77-40BF-012C00E70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51656B-CE33-DF11-98AD-D3D8A50A0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72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D4FC-3854-08E7-16AF-B232DE1E2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E31F10-3457-DFF6-84AA-88160CDE2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F718F-E992-2ED9-B7CC-604ECAE3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D0BC0-8C77-8E6A-129D-A484B541E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6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DC40E3-A384-C861-ABCC-5E7C75EF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A4ED0E-3688-326C-E3CF-1D83402B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0CEFA-3571-70B7-7E14-EF056D3E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6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776E9-5785-AAB8-D6DD-77E643B8A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0B49A-A312-B7B0-EA6A-4894D9FA2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BCE3C-0A51-BA61-0DE3-2C3B2EB6F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D1C02-5617-AC5E-09BD-CEACCDA3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1AB14-8951-91D1-3AE9-C743541F1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6A42A-7485-3DF5-7602-0015E96B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2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4620-C464-409C-EC8B-777FB0B1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AE31FF-AF0B-6138-77F5-02BE56A99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28F31-3A99-71BD-1C5E-AB67036D3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ED5BC-53B4-C89F-06D0-AE216FB2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2D838-D131-2972-E46F-C84F319D9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9D4A3-B323-DFD0-5B6C-62059E80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75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04A92-F994-6854-58C2-5C74C8E5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D4A267-0902-26CF-55AC-1CDFE569A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73BAD-3EB6-540A-AF55-01BF151C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43BF5-538F-1D15-6E2D-4708893C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92F49-EB83-CD9C-4E58-9522E89B2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90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39A6C4-0629-7BF8-7A71-E883A4454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B8D9F-1822-0934-7B95-672790291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B755C-10FD-0B72-2419-4D367B6E5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7776D-6615-A8E9-FA78-FF6C515D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86797-1061-1C15-13AD-B31ED89EC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11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10"/>
          </p:nvPr>
        </p:nvSpPr>
        <p:spPr>
          <a:ln w="12700">
            <a:miter lim="400000"/>
          </a:ln>
        </p:spPr>
        <p:txBody>
          <a:bodyPr/>
          <a:lstStyle>
            <a:lvl1pPr defTabSz="914400" eaLnBrk="0">
              <a:defRPr sz="1000" i="1">
                <a:solidFill>
                  <a:schemeClr val="tx1"/>
                </a:solidFill>
                <a:latin typeface="Helvetica Neue" charset="0"/>
                <a:ea typeface="ＭＳ Ｐゴシック" charset="0"/>
                <a:cs typeface="Helvetica Neue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fld id="{614D5C72-0A86-1743-A8F5-22AFF7417A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7142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577777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5D9CC0-BC16-F5CB-8A06-3BB0F3605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439A2-2316-DC5F-C694-FD383B813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578D8-64AA-30B1-4BE7-E156EFE9D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A84C3-F59E-364D-9E70-DFF28C6F1C8C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924B4-0AC5-7713-381D-F1C467C344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29D49-6C2D-A590-A421-FE200DF52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024E1-AA16-A146-94DD-70AC6BF068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18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cve.org/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cve.org/" TargetMode="Externa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vedetails.com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vedetails.com/" TargetMode="Externa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vedetails.com/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swigger.net/web-security/sql-injection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brightsec.com/blog/xss-attack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owin.net/news/microsoft-releases-detailed-faqs-about-xz-utils-vulnerability-in-linux-systems/" TargetMode="External"/><Relationship Id="rId2" Type="http://schemas.openxmlformats.org/officeDocument/2006/relationships/hyperlink" Target="https://cloud.google.com/blog/topics/threat-intelligence/evasive-attacker-leverages-solarwinds-supply-chain-compromises-with-sunburst-backdoor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D661F-A6E9-1F23-C976-6A6F43B75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226" y="96657"/>
            <a:ext cx="10205545" cy="2387600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tx1"/>
                </a:solidFill>
                <a:latin typeface="Aptos Display" panose="020B0004020202020204" pitchFamily="34" charset="0"/>
              </a:rPr>
              <a:t>Software Engineering 1:</a:t>
            </a:r>
            <a:br>
              <a:rPr lang="en-US" sz="6000" dirty="0">
                <a:solidFill>
                  <a:schemeClr val="tx1"/>
                </a:solidFill>
                <a:latin typeface="Aptos Display" panose="020B0004020202020204" pitchFamily="34" charset="0"/>
              </a:rPr>
            </a:br>
            <a:r>
              <a:rPr lang="en-US" sz="6000" dirty="0">
                <a:solidFill>
                  <a:schemeClr val="tx1"/>
                </a:solidFill>
                <a:latin typeface="Aptos Display" panose="020B0004020202020204" pitchFamily="34" charset="0"/>
              </a:rPr>
              <a:t>Introduction </a:t>
            </a:r>
            <a:r>
              <a:rPr lang="en-US" dirty="0">
                <a:latin typeface="Aptos Display" panose="020B0004020202020204" pitchFamily="34" charset="0"/>
              </a:rPr>
              <a:t>to </a:t>
            </a:r>
            <a:r>
              <a:rPr lang="en-US" sz="6000" dirty="0">
                <a:solidFill>
                  <a:schemeClr val="tx1"/>
                </a:solidFill>
                <a:latin typeface="Aptos Display" panose="020B0004020202020204" pitchFamily="34" charset="0"/>
              </a:rPr>
              <a:t>Software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A14F0D-C7A6-FBA6-5D17-3989F165D4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78850"/>
            <a:ext cx="9144000" cy="1046423"/>
          </a:xfrm>
        </p:spPr>
        <p:txBody>
          <a:bodyPr/>
          <a:lstStyle/>
          <a:p>
            <a:r>
              <a:rPr lang="en-US" sz="2400" dirty="0">
                <a:latin typeface="Aptos" panose="020B0004020202020204" pitchFamily="34" charset="0"/>
              </a:rPr>
              <a:t>COMP23311</a:t>
            </a:r>
          </a:p>
          <a:p>
            <a:r>
              <a:rPr lang="en-US" sz="2400" dirty="0">
                <a:latin typeface="Aptos" panose="020B0004020202020204" pitchFamily="34" charset="0"/>
              </a:rPr>
              <a:t>Week 10, Session 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2C8092-B86F-6760-4CE4-D09414EB219C}"/>
              </a:ext>
            </a:extLst>
          </p:cNvPr>
          <p:cNvSpPr txBox="1">
            <a:spLocks/>
          </p:cNvSpPr>
          <p:nvPr/>
        </p:nvSpPr>
        <p:spPr>
          <a:xfrm>
            <a:off x="1524000" y="1999673"/>
            <a:ext cx="9144000" cy="11583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 </a:t>
            </a:r>
            <a:endParaRPr lang="en-US" sz="3500" dirty="0">
              <a:latin typeface="Aptos Display" panose="020B0004020202020204" pitchFamily="34" charset="0"/>
            </a:endParaRPr>
          </a:p>
        </p:txBody>
      </p:sp>
      <p:sp>
        <p:nvSpPr>
          <p:cNvPr id="6" name="AutoShape 4" descr="QR">
            <a:extLst>
              <a:ext uri="{FF2B5EF4-FFF2-40B4-BE49-F238E27FC236}">
                <a16:creationId xmlns:a16="http://schemas.microsoft.com/office/drawing/2014/main" id="{F952F1F5-5840-2979-BAA4-30004AC02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1242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C9AA63-37AE-85F6-91C4-C520FB6CC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898" y="3498943"/>
            <a:ext cx="31242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18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A268B-44D3-3C2A-C54C-35FA15B50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A9B4B-3126-EB6A-4E63-E74D3EB1C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Pre-cap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610BCC7-A142-3301-F217-F6DC523E3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endParaRPr lang="en-US" sz="2800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2800" dirty="0">
                <a:latin typeface="Aptos" panose="020B0004020202020204" pitchFamily="34" charset="0"/>
                <a:cs typeface="Arial"/>
              </a:rPr>
              <a:t>We will define 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standard notions of security 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and use them to evaluate a system’s</a:t>
            </a:r>
            <a:r>
              <a:rPr lang="en-US" sz="2800" b="1" dirty="0">
                <a:latin typeface="Aptos" panose="020B0004020202020204" pitchFamily="34" charset="0"/>
                <a:cs typeface="Arial"/>
              </a:rPr>
              <a:t> </a:t>
            </a:r>
            <a:r>
              <a:rPr lang="en-US" sz="2800" b="1" u="sng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confidentiality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, </a:t>
            </a:r>
            <a:r>
              <a:rPr lang="en-US" sz="2800" b="1" u="sng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integrity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, 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and</a:t>
            </a:r>
            <a:r>
              <a:rPr lang="en-US" sz="2800" b="1" dirty="0">
                <a:latin typeface="Aptos" panose="020B0004020202020204" pitchFamily="34" charset="0"/>
                <a:cs typeface="Arial"/>
              </a:rPr>
              <a:t> </a:t>
            </a:r>
            <a:r>
              <a:rPr lang="en-US" sz="2800" b="1" u="sng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availability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   </a:t>
            </a:r>
            <a:br>
              <a:rPr lang="en-US" sz="2800" dirty="0">
                <a:latin typeface="Aptos" panose="020B0004020202020204" pitchFamily="34" charset="0"/>
                <a:cs typeface="Arial"/>
              </a:rPr>
            </a:br>
            <a:r>
              <a:rPr lang="en-US" sz="2800" b="1" dirty="0">
                <a:latin typeface="Aptos" panose="020B0004020202020204" pitchFamily="34" charset="0"/>
                <a:cs typeface="Arial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148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599B0-1F12-5C2E-F287-F49060AE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051D2-9C1A-61B0-C87A-957B810E0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Pre-cap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7138B51-4022-9F27-F89F-23684A1C3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endParaRPr lang="en-US" sz="2800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2800" dirty="0">
                <a:latin typeface="Aptos" panose="020B0004020202020204" pitchFamily="34" charset="0"/>
                <a:cs typeface="Arial"/>
              </a:rPr>
              <a:t>We will define 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standard notions of security 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and use them to evaluate a system’s</a:t>
            </a:r>
            <a:r>
              <a:rPr lang="en-US" sz="2800" b="1" dirty="0">
                <a:latin typeface="Aptos" panose="020B0004020202020204" pitchFamily="34" charset="0"/>
                <a:cs typeface="Arial"/>
              </a:rPr>
              <a:t> </a:t>
            </a:r>
            <a:r>
              <a:rPr lang="en-US" sz="2800" b="1" u="sng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confidentiality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, </a:t>
            </a:r>
            <a:r>
              <a:rPr lang="en-US" sz="2800" b="1" u="sng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integrity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, 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and</a:t>
            </a:r>
            <a:r>
              <a:rPr lang="en-US" sz="2800" b="1" dirty="0">
                <a:latin typeface="Aptos" panose="020B0004020202020204" pitchFamily="34" charset="0"/>
                <a:cs typeface="Arial"/>
              </a:rPr>
              <a:t> </a:t>
            </a:r>
            <a:r>
              <a:rPr lang="en-US" sz="2800" b="1" u="sng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availability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   </a:t>
            </a:r>
            <a:br>
              <a:rPr lang="en-US" sz="2800" dirty="0">
                <a:latin typeface="Aptos" panose="020B0004020202020204" pitchFamily="34" charset="0"/>
                <a:cs typeface="Arial"/>
              </a:rPr>
            </a:br>
            <a:r>
              <a:rPr lang="en-US" sz="2800" b="1" dirty="0">
                <a:latin typeface="Aptos" panose="020B0004020202020204" pitchFamily="34" charset="0"/>
                <a:cs typeface="Arial"/>
              </a:rPr>
              <a:t> </a:t>
            </a:r>
          </a:p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2800" dirty="0">
                <a:latin typeface="Aptos" panose="020B0004020202020204" pitchFamily="34" charset="0"/>
                <a:cs typeface="Arial"/>
              </a:rPr>
              <a:t>Explain standard 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software</a:t>
            </a:r>
            <a:r>
              <a:rPr lang="en-US" sz="28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security problems 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in real-world applications and examples</a:t>
            </a:r>
            <a:br>
              <a:rPr lang="en-US" sz="2800" dirty="0">
                <a:latin typeface="Aptos" panose="020B0004020202020204" pitchFamily="34" charset="0"/>
                <a:cs typeface="Arial"/>
              </a:rPr>
            </a:br>
            <a:endParaRPr lang="en-US" sz="2800" dirty="0">
              <a:latin typeface="Aptos" panose="020B0004020202020204" pitchFamily="34" charset="0"/>
              <a:cs typeface="Arial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838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976CC-A08C-408F-079C-7906C1CE6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A534-B40D-275B-AED4-568CDC44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Pre-cap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C121606-CF13-7503-EF89-84A71050A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endParaRPr lang="en-US" sz="2800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2800" dirty="0">
                <a:latin typeface="Aptos" panose="020B0004020202020204" pitchFamily="34" charset="0"/>
                <a:cs typeface="Arial"/>
              </a:rPr>
              <a:t>We will define 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standard notions of security 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and use them to evaluate a system’s</a:t>
            </a:r>
            <a:r>
              <a:rPr lang="en-US" sz="2800" b="1" dirty="0">
                <a:latin typeface="Aptos" panose="020B0004020202020204" pitchFamily="34" charset="0"/>
                <a:cs typeface="Arial"/>
              </a:rPr>
              <a:t> </a:t>
            </a:r>
            <a:r>
              <a:rPr lang="en-US" sz="2800" b="1" u="sng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confidentiality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, </a:t>
            </a:r>
            <a:r>
              <a:rPr lang="en-US" sz="2800" b="1" u="sng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integrity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, 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and</a:t>
            </a:r>
            <a:r>
              <a:rPr lang="en-US" sz="2800" b="1" dirty="0">
                <a:latin typeface="Aptos" panose="020B0004020202020204" pitchFamily="34" charset="0"/>
                <a:cs typeface="Arial"/>
              </a:rPr>
              <a:t> </a:t>
            </a:r>
            <a:r>
              <a:rPr lang="en-US" sz="2800" b="1" u="sng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availability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   </a:t>
            </a:r>
            <a:br>
              <a:rPr lang="en-US" sz="2800" dirty="0">
                <a:latin typeface="Aptos" panose="020B0004020202020204" pitchFamily="34" charset="0"/>
                <a:cs typeface="Arial"/>
              </a:rPr>
            </a:br>
            <a:r>
              <a:rPr lang="en-US" sz="2800" b="1" dirty="0">
                <a:latin typeface="Aptos" panose="020B0004020202020204" pitchFamily="34" charset="0"/>
                <a:cs typeface="Arial"/>
              </a:rPr>
              <a:t> </a:t>
            </a:r>
          </a:p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sz="2800" dirty="0">
                <a:latin typeface="Aptos" panose="020B0004020202020204" pitchFamily="34" charset="0"/>
                <a:cs typeface="Arial"/>
              </a:rPr>
              <a:t>Explain standard 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software</a:t>
            </a:r>
            <a:r>
              <a:rPr lang="en-US" sz="28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</a:t>
            </a:r>
            <a:r>
              <a:rPr lang="en-US" sz="28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security problems </a:t>
            </a:r>
            <a:r>
              <a:rPr lang="en-US" sz="2800" dirty="0">
                <a:latin typeface="Aptos" panose="020B0004020202020204" pitchFamily="34" charset="0"/>
                <a:cs typeface="Arial"/>
              </a:rPr>
              <a:t>in real-world applications and examples</a:t>
            </a:r>
            <a:br>
              <a:rPr lang="en-US" sz="2800" dirty="0">
                <a:latin typeface="Aptos" panose="020B0004020202020204" pitchFamily="34" charset="0"/>
                <a:cs typeface="Arial"/>
              </a:rPr>
            </a:br>
            <a:endParaRPr lang="en-US" sz="2800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Tx/>
              <a:defRPr/>
            </a:pPr>
            <a:r>
              <a:rPr lang="en-US" dirty="0">
                <a:latin typeface="Aptos" panose="020B0004020202020204" pitchFamily="34" charset="0"/>
                <a:cs typeface="Arial"/>
              </a:rPr>
              <a:t>Discuss 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common vulnerabilities </a:t>
            </a:r>
            <a:r>
              <a:rPr lang="en-US" dirty="0">
                <a:latin typeface="Aptos" panose="020B0004020202020204" pitchFamily="34" charset="0"/>
                <a:cs typeface="Arial"/>
              </a:rPr>
              <a:t>found in software</a:t>
            </a:r>
            <a:endParaRPr lang="x-none" sz="2800">
              <a:latin typeface="Aptos" panose="020B0004020202020204" pitchFamily="34" charset="0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30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9A69-41AD-78C8-D372-6083007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FA5AF9A-87DB-075D-F60F-7D8A5E4C061E}"/>
              </a:ext>
            </a:extLst>
          </p:cNvPr>
          <p:cNvSpPr txBox="1"/>
          <p:nvPr/>
        </p:nvSpPr>
        <p:spPr>
          <a:xfrm>
            <a:off x="838200" y="1690688"/>
            <a:ext cx="4563879" cy="4404983"/>
          </a:xfrm>
          <a:prstGeom prst="rect">
            <a:avLst/>
          </a:prstGeom>
          <a:solidFill>
            <a:srgbClr val="FFFF00">
              <a:alpha val="15000"/>
            </a:srgbClr>
          </a:solidFill>
          <a:ln w="12700">
            <a:solidFill>
              <a:schemeClr val="bg2">
                <a:lumMod val="25000"/>
              </a:schemeClr>
            </a:solidFill>
          </a:ln>
        </p:spPr>
        <p:txBody>
          <a:bodyPr wrap="square" lIns="9144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stdlib.h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string.h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endParaRPr lang="en-US" sz="14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int </a:t>
            </a:r>
            <a:r>
              <a:rPr lang="en-US" sz="1400" b="1" dirty="0" err="1">
                <a:latin typeface="Menlo" panose="020B0609030804020204" pitchFamily="49" charset="0"/>
              </a:rPr>
              <a:t>getPassword</a:t>
            </a:r>
            <a:r>
              <a:rPr lang="en-US" sz="1400" dirty="0">
                <a:latin typeface="Menlo" panose="020B0609030804020204" pitchFamily="49" charset="0"/>
              </a:rPr>
              <a:t>() 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char 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[4];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gets(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);</a:t>
            </a:r>
            <a:endParaRPr lang="en-US" sz="1400" dirty="0"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return </a:t>
            </a:r>
            <a:r>
              <a:rPr lang="en-US" sz="1400" dirty="0" err="1">
                <a:latin typeface="Menlo" panose="020B0609030804020204" pitchFamily="49" charset="0"/>
              </a:rPr>
              <a:t>strcmp</a:t>
            </a:r>
            <a:r>
              <a:rPr lang="en-US" sz="1400" dirty="0">
                <a:latin typeface="Menlo" panose="020B0609030804020204" pitchFamily="49" charset="0"/>
              </a:rPr>
              <a:t>(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, "SMT");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int </a:t>
            </a:r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main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(){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 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(”Enter your password:\n");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  int x = </a:t>
            </a:r>
            <a:r>
              <a:rPr lang="en-US" sz="1400" b="1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getPassword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();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  if(x){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    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("Access Denied\n");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     exit(0);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  }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  </a:t>
            </a:r>
            <a:r>
              <a:rPr lang="en-US" sz="1400" dirty="0" err="1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("Access Granted\n"); 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  return 0;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Menlo" panose="020B0609030804020204" pitchFamily="49" charset="0"/>
              </a:rPr>
              <a:t>}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CFC5442-A372-66E5-4FF1-E4FE40D8C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Motivating Example</a:t>
            </a:r>
          </a:p>
        </p:txBody>
      </p:sp>
    </p:spTree>
    <p:extLst>
      <p:ext uri="{BB962C8B-B14F-4D97-AF65-F5344CB8AC3E}">
        <p14:creationId xmlns:p14="http://schemas.microsoft.com/office/powerpoint/2010/main" val="414681964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B24AA-30C0-09C5-CA3F-8E938E27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8F1799B-046C-AD9A-2D0F-144941EE507A}"/>
              </a:ext>
            </a:extLst>
          </p:cNvPr>
          <p:cNvSpPr txBox="1"/>
          <p:nvPr/>
        </p:nvSpPr>
        <p:spPr>
          <a:xfrm>
            <a:off x="838200" y="1690688"/>
            <a:ext cx="4563879" cy="4404983"/>
          </a:xfrm>
          <a:prstGeom prst="rect">
            <a:avLst/>
          </a:prstGeom>
          <a:solidFill>
            <a:srgbClr val="FFFF00">
              <a:alpha val="15000"/>
            </a:srgbClr>
          </a:solidFill>
          <a:ln w="12700">
            <a:solidFill>
              <a:schemeClr val="bg2">
                <a:lumMod val="25000"/>
              </a:schemeClr>
            </a:solidFill>
          </a:ln>
        </p:spPr>
        <p:txBody>
          <a:bodyPr wrap="square" lIns="9144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stdlib.h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string.h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endParaRPr lang="en-US" sz="14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int </a:t>
            </a:r>
            <a:r>
              <a:rPr lang="en-US" sz="1400" b="1" dirty="0" err="1">
                <a:latin typeface="Menlo" panose="020B0609030804020204" pitchFamily="49" charset="0"/>
              </a:rPr>
              <a:t>getPassword</a:t>
            </a:r>
            <a:r>
              <a:rPr lang="en-US" sz="1400" dirty="0">
                <a:latin typeface="Menlo" panose="020B0609030804020204" pitchFamily="49" charset="0"/>
              </a:rPr>
              <a:t>() 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char 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[4];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gets(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);</a:t>
            </a:r>
            <a:endParaRPr lang="en-US" sz="1400" dirty="0"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return </a:t>
            </a:r>
            <a:r>
              <a:rPr lang="en-US" sz="1400" dirty="0" err="1">
                <a:latin typeface="Menlo" panose="020B0609030804020204" pitchFamily="49" charset="0"/>
              </a:rPr>
              <a:t>strcmp</a:t>
            </a:r>
            <a:r>
              <a:rPr lang="en-US" sz="1400" dirty="0">
                <a:latin typeface="Menlo" panose="020B0609030804020204" pitchFamily="49" charset="0"/>
              </a:rPr>
              <a:t>(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, "SMT");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int </a:t>
            </a:r>
            <a:r>
              <a:rPr lang="en-US" sz="1400" b="1" dirty="0">
                <a:latin typeface="Menlo" panose="020B0609030804020204" pitchFamily="49" charset="0"/>
              </a:rPr>
              <a:t>main</a:t>
            </a:r>
            <a:r>
              <a:rPr lang="en-US" sz="1400" dirty="0">
                <a:latin typeface="Menlo" panose="020B0609030804020204" pitchFamily="49" charset="0"/>
              </a:rPr>
              <a:t>(){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(”Enter your password:\n");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int x = </a:t>
            </a:r>
            <a:r>
              <a:rPr lang="en-US" sz="1400" b="1" dirty="0" err="1">
                <a:latin typeface="Menlo" panose="020B0609030804020204" pitchFamily="49" charset="0"/>
              </a:rPr>
              <a:t>getPassword</a:t>
            </a:r>
            <a:r>
              <a:rPr lang="en-US" sz="1400" dirty="0">
                <a:latin typeface="Menlo" panose="020B0609030804020204" pitchFamily="49" charset="0"/>
              </a:rPr>
              <a:t>();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if(x){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 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("Access Denied\n");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   exit(0);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}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("Access Granted\n"); 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return 0;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}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D5BB39-8C30-83AC-7833-1A7BA4BF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Motivating Example</a:t>
            </a:r>
          </a:p>
        </p:txBody>
      </p:sp>
    </p:spTree>
    <p:extLst>
      <p:ext uri="{BB962C8B-B14F-4D97-AF65-F5344CB8AC3E}">
        <p14:creationId xmlns:p14="http://schemas.microsoft.com/office/powerpoint/2010/main" val="17690499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39401-102E-592F-D74D-5CFAB686D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9810" y="1690688"/>
            <a:ext cx="624147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>
                <a:latin typeface="Aptos" panose="020B0004020202020204" pitchFamily="34" charset="0"/>
                <a:cs typeface="Arial"/>
              </a:rPr>
              <a:t>What happens if the user enters “SMT"?</a:t>
            </a:r>
          </a:p>
          <a:p>
            <a:endParaRPr lang="en-US" sz="2600" dirty="0">
              <a:latin typeface="Aptos" panose="020B0004020202020204" pitchFamily="34" charset="0"/>
              <a:cs typeface="Arial"/>
            </a:endParaRPr>
          </a:p>
          <a:p>
            <a:r>
              <a:rPr lang="en-US" sz="2600" dirty="0">
                <a:latin typeface="Aptos" panose="020B0004020202020204" pitchFamily="34" charset="0"/>
                <a:cs typeface="Arial"/>
              </a:rPr>
              <a:t>On a Linux x64 platform running GCC 4.8.2, an input consisting of 24 arbitrary characters followed by </a:t>
            </a:r>
            <a:r>
              <a:rPr lang="en-US" sz="2600" i="1" dirty="0">
                <a:latin typeface="Aptos" panose="020B0004020202020204" pitchFamily="34" charset="0"/>
                <a:cs typeface="Arial"/>
              </a:rPr>
              <a:t>]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, </a:t>
            </a:r>
            <a:r>
              <a:rPr lang="en-US" sz="2600" i="1" dirty="0">
                <a:latin typeface="Aptos" panose="020B0004020202020204" pitchFamily="34" charset="0"/>
                <a:cs typeface="Arial"/>
              </a:rPr>
              <a:t>&lt;ctrl-f&gt;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, and </a:t>
            </a:r>
            <a:r>
              <a:rPr lang="en-US" sz="2600" i="1" dirty="0">
                <a:latin typeface="Aptos" panose="020B0004020202020204" pitchFamily="34" charset="0"/>
                <a:cs typeface="Arial"/>
              </a:rPr>
              <a:t>@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,</a:t>
            </a:r>
            <a:r>
              <a:rPr lang="en-US" sz="26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will bypass the “Access Denied”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 message </a:t>
            </a:r>
            <a:r>
              <a:rPr lang="en-US" sz="3500" dirty="0">
                <a:latin typeface="Aptos" panose="020B0004020202020204" pitchFamily="34" charset="0"/>
                <a:cs typeface="Arial"/>
              </a:rPr>
              <a:t>🏴‍☠️</a:t>
            </a:r>
            <a:br>
              <a:rPr lang="en-US" sz="2600" dirty="0">
                <a:latin typeface="Aptos" panose="020B0004020202020204" pitchFamily="34" charset="0"/>
                <a:cs typeface="Arial"/>
              </a:rPr>
            </a:br>
            <a:endParaRPr lang="en-US" sz="2600" dirty="0">
              <a:latin typeface="Aptos" panose="020B0004020202020204" pitchFamily="34" charset="0"/>
              <a:cs typeface="Arial"/>
            </a:endParaRPr>
          </a:p>
          <a:p>
            <a:r>
              <a:rPr lang="en-US" sz="2600" dirty="0">
                <a:latin typeface="Aptos" panose="020B0004020202020204" pitchFamily="34" charset="0"/>
                <a:cs typeface="Arial"/>
              </a:rPr>
              <a:t>A more extended input will run over into other parts of the </a:t>
            </a:r>
            <a:r>
              <a:rPr lang="en-US" sz="2600" b="1" dirty="0">
                <a:latin typeface="Aptos" panose="020B0004020202020204" pitchFamily="34" charset="0"/>
                <a:cs typeface="Arial"/>
              </a:rPr>
              <a:t>computer memory</a:t>
            </a:r>
            <a:br>
              <a:rPr lang="en-US" sz="2600" b="1" dirty="0">
                <a:latin typeface="Aptos" panose="020B0004020202020204" pitchFamily="34" charset="0"/>
                <a:cs typeface="Arial"/>
              </a:rPr>
            </a:br>
            <a:r>
              <a:rPr lang="en-US" sz="2600" dirty="0">
                <a:latin typeface="Aptos" panose="020B0004020202020204" pitchFamily="34" charset="0"/>
                <a:cs typeface="Arial"/>
              </a:rPr>
              <a:t>(</a:t>
            </a:r>
            <a:r>
              <a:rPr lang="en-US" sz="26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gets is unsafe: no bounds check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)</a:t>
            </a:r>
            <a:br>
              <a:rPr lang="en-US" sz="2600" dirty="0">
                <a:latin typeface="Aptos" panose="020B0004020202020204" pitchFamily="34" charset="0"/>
                <a:cs typeface="Arial"/>
              </a:rPr>
            </a:br>
            <a:br>
              <a:rPr lang="en-US" sz="2600" dirty="0">
                <a:latin typeface="Aptos" panose="020B0004020202020204" pitchFamily="34" charset="0"/>
                <a:cs typeface="Arial"/>
              </a:rPr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08243-8FF5-B433-D584-B63F82C3352E}"/>
              </a:ext>
            </a:extLst>
          </p:cNvPr>
          <p:cNvSpPr txBox="1"/>
          <p:nvPr/>
        </p:nvSpPr>
        <p:spPr>
          <a:xfrm>
            <a:off x="838200" y="1690688"/>
            <a:ext cx="4563879" cy="4404983"/>
          </a:xfrm>
          <a:prstGeom prst="rect">
            <a:avLst/>
          </a:prstGeom>
          <a:solidFill>
            <a:srgbClr val="FFFF00">
              <a:alpha val="15000"/>
            </a:srgbClr>
          </a:solidFill>
          <a:ln w="12700">
            <a:solidFill>
              <a:schemeClr val="bg2">
                <a:lumMod val="25000"/>
              </a:schemeClr>
            </a:solidFill>
          </a:ln>
        </p:spPr>
        <p:txBody>
          <a:bodyPr wrap="square" lIns="9144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stdlib.h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string.h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endParaRPr lang="en-US" sz="14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int </a:t>
            </a:r>
            <a:r>
              <a:rPr lang="en-US" sz="1400" b="1" dirty="0" err="1">
                <a:latin typeface="Menlo" panose="020B0609030804020204" pitchFamily="49" charset="0"/>
              </a:rPr>
              <a:t>getPassword</a:t>
            </a:r>
            <a:r>
              <a:rPr lang="en-US" sz="1400" dirty="0">
                <a:latin typeface="Menlo" panose="020B0609030804020204" pitchFamily="49" charset="0"/>
              </a:rPr>
              <a:t>() 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char 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[4];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b="1" dirty="0">
                <a:solidFill>
                  <a:srgbClr val="C00000"/>
                </a:solidFill>
                <a:latin typeface="Menlo" panose="020B0609030804020204" pitchFamily="49" charset="0"/>
              </a:rPr>
              <a:t>gets(</a:t>
            </a:r>
            <a:r>
              <a:rPr lang="en-US" sz="1400" b="1" dirty="0" err="1">
                <a:solidFill>
                  <a:srgbClr val="C00000"/>
                </a:solidFill>
                <a:latin typeface="Menlo" panose="020B0609030804020204" pitchFamily="49" charset="0"/>
              </a:rPr>
              <a:t>buf</a:t>
            </a:r>
            <a:r>
              <a:rPr lang="en-US" sz="1400" b="1" dirty="0">
                <a:solidFill>
                  <a:srgbClr val="C00000"/>
                </a:solidFill>
                <a:latin typeface="Menlo" panose="020B0609030804020204" pitchFamily="49" charset="0"/>
              </a:rPr>
              <a:t>);</a:t>
            </a:r>
            <a:endParaRPr lang="en-US" sz="1400" b="1" dirty="0">
              <a:solidFill>
                <a:srgbClr val="C00000"/>
              </a:solidFill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return </a:t>
            </a:r>
            <a:r>
              <a:rPr lang="en-US" sz="1400" dirty="0" err="1">
                <a:latin typeface="Menlo" panose="020B0609030804020204" pitchFamily="49" charset="0"/>
              </a:rPr>
              <a:t>strcmp</a:t>
            </a:r>
            <a:r>
              <a:rPr lang="en-US" sz="1400" dirty="0">
                <a:latin typeface="Menlo" panose="020B0609030804020204" pitchFamily="49" charset="0"/>
              </a:rPr>
              <a:t>(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, "SMT");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int </a:t>
            </a:r>
            <a:r>
              <a:rPr lang="en-US" sz="1400" b="1" dirty="0">
                <a:latin typeface="Menlo" panose="020B0609030804020204" pitchFamily="49" charset="0"/>
              </a:rPr>
              <a:t>main</a:t>
            </a:r>
            <a:r>
              <a:rPr lang="en-US" sz="1400" dirty="0">
                <a:latin typeface="Menlo" panose="020B0609030804020204" pitchFamily="49" charset="0"/>
              </a:rPr>
              <a:t>(){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(”Enter your password:\n");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int x = </a:t>
            </a:r>
            <a:r>
              <a:rPr lang="en-US" sz="1400" b="1" dirty="0" err="1">
                <a:latin typeface="Menlo" panose="020B0609030804020204" pitchFamily="49" charset="0"/>
              </a:rPr>
              <a:t>getPassword</a:t>
            </a:r>
            <a:r>
              <a:rPr lang="en-US" sz="1400" dirty="0">
                <a:latin typeface="Menlo" panose="020B0609030804020204" pitchFamily="49" charset="0"/>
              </a:rPr>
              <a:t>();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if(x){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 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("Access Denied\n");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   exit(0);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}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("Access Granted\n"); 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return 0;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}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52FFAE-72F4-7609-14F9-30F37CF1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Motivating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16960F-B87B-FD59-04E6-4DF2DC191787}"/>
              </a:ext>
            </a:extLst>
          </p:cNvPr>
          <p:cNvSpPr/>
          <p:nvPr/>
        </p:nvSpPr>
        <p:spPr>
          <a:xfrm>
            <a:off x="5729810" y="2368446"/>
            <a:ext cx="6241473" cy="3417757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2554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8EF68-F6B7-496A-AF5C-99F834D92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AC858-A293-C2E4-1078-6A31A2199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9810" y="1690688"/>
            <a:ext cx="624147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>
                <a:latin typeface="Aptos" panose="020B0004020202020204" pitchFamily="34" charset="0"/>
                <a:cs typeface="Arial"/>
              </a:rPr>
              <a:t>What happens if the user enters “SMT"?</a:t>
            </a:r>
          </a:p>
          <a:p>
            <a:endParaRPr lang="en-US" sz="2600" dirty="0">
              <a:latin typeface="Aptos" panose="020B0004020202020204" pitchFamily="34" charset="0"/>
              <a:cs typeface="Arial"/>
            </a:endParaRPr>
          </a:p>
          <a:p>
            <a:r>
              <a:rPr lang="en-US" sz="2600" dirty="0">
                <a:latin typeface="Aptos" panose="020B0004020202020204" pitchFamily="34" charset="0"/>
                <a:cs typeface="Arial"/>
              </a:rPr>
              <a:t>On a Linux x64 platform running GCC 4.8.2, an input consisting of 24 arbitrary characters followed by </a:t>
            </a:r>
            <a:r>
              <a:rPr lang="en-US" sz="2600" i="1" dirty="0">
                <a:latin typeface="Aptos" panose="020B0004020202020204" pitchFamily="34" charset="0"/>
                <a:cs typeface="Arial"/>
              </a:rPr>
              <a:t>]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, </a:t>
            </a:r>
            <a:r>
              <a:rPr lang="en-US" sz="2600" i="1" dirty="0">
                <a:latin typeface="Aptos" panose="020B0004020202020204" pitchFamily="34" charset="0"/>
                <a:cs typeface="Arial"/>
              </a:rPr>
              <a:t>&lt;ctrl-f&gt;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, and </a:t>
            </a:r>
            <a:r>
              <a:rPr lang="en-US" sz="2600" i="1" dirty="0">
                <a:latin typeface="Aptos" panose="020B0004020202020204" pitchFamily="34" charset="0"/>
                <a:cs typeface="Arial"/>
              </a:rPr>
              <a:t>@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,</a:t>
            </a:r>
            <a:r>
              <a:rPr lang="en-US" sz="26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will bypass the “Access Denied”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 message </a:t>
            </a:r>
            <a:r>
              <a:rPr lang="en-US" sz="3500" dirty="0">
                <a:latin typeface="Aptos" panose="020B0004020202020204" pitchFamily="34" charset="0"/>
                <a:cs typeface="Arial"/>
              </a:rPr>
              <a:t>🏴‍☠️</a:t>
            </a:r>
            <a:br>
              <a:rPr lang="en-US" sz="2600" dirty="0">
                <a:latin typeface="Aptos" panose="020B0004020202020204" pitchFamily="34" charset="0"/>
                <a:cs typeface="Arial"/>
              </a:rPr>
            </a:br>
            <a:endParaRPr lang="en-US" sz="2600" dirty="0">
              <a:latin typeface="Aptos" panose="020B0004020202020204" pitchFamily="34" charset="0"/>
              <a:cs typeface="Arial"/>
            </a:endParaRPr>
          </a:p>
          <a:p>
            <a:r>
              <a:rPr lang="en-US" sz="2600" dirty="0">
                <a:latin typeface="Aptos" panose="020B0004020202020204" pitchFamily="34" charset="0"/>
                <a:cs typeface="Arial"/>
              </a:rPr>
              <a:t>A more extended input will run over into other parts of the </a:t>
            </a:r>
            <a:r>
              <a:rPr lang="en-US" sz="2600" b="1" dirty="0">
                <a:latin typeface="Aptos" panose="020B0004020202020204" pitchFamily="34" charset="0"/>
                <a:cs typeface="Arial"/>
              </a:rPr>
              <a:t>computer memory</a:t>
            </a:r>
            <a:br>
              <a:rPr lang="en-US" sz="2600" b="1" dirty="0">
                <a:latin typeface="Aptos" panose="020B0004020202020204" pitchFamily="34" charset="0"/>
                <a:cs typeface="Arial"/>
              </a:rPr>
            </a:br>
            <a:r>
              <a:rPr lang="en-US" sz="2600" dirty="0">
                <a:latin typeface="Aptos" panose="020B0004020202020204" pitchFamily="34" charset="0"/>
                <a:cs typeface="Arial"/>
              </a:rPr>
              <a:t>(</a:t>
            </a:r>
            <a:r>
              <a:rPr lang="en-US" sz="26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gets is unsafe: no bounds check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)</a:t>
            </a:r>
            <a:br>
              <a:rPr lang="en-US" sz="2600" dirty="0">
                <a:latin typeface="Aptos" panose="020B0004020202020204" pitchFamily="34" charset="0"/>
                <a:cs typeface="Arial"/>
              </a:rPr>
            </a:br>
            <a:br>
              <a:rPr lang="en-US" sz="2600" dirty="0">
                <a:latin typeface="Aptos" panose="020B0004020202020204" pitchFamily="34" charset="0"/>
                <a:cs typeface="Arial"/>
              </a:rPr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11102-14E6-4578-8489-EC83FB725ED4}"/>
              </a:ext>
            </a:extLst>
          </p:cNvPr>
          <p:cNvSpPr txBox="1"/>
          <p:nvPr/>
        </p:nvSpPr>
        <p:spPr>
          <a:xfrm>
            <a:off x="838200" y="1690688"/>
            <a:ext cx="4563879" cy="4404983"/>
          </a:xfrm>
          <a:prstGeom prst="rect">
            <a:avLst/>
          </a:prstGeom>
          <a:solidFill>
            <a:srgbClr val="FFFF00">
              <a:alpha val="15000"/>
            </a:srgbClr>
          </a:solidFill>
          <a:ln w="12700">
            <a:solidFill>
              <a:schemeClr val="bg2">
                <a:lumMod val="25000"/>
              </a:schemeClr>
            </a:solidFill>
          </a:ln>
        </p:spPr>
        <p:txBody>
          <a:bodyPr wrap="square" lIns="9144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stdlib.h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string.h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endParaRPr lang="en-US" sz="14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int </a:t>
            </a:r>
            <a:r>
              <a:rPr lang="en-US" sz="1400" b="1" dirty="0" err="1">
                <a:latin typeface="Menlo" panose="020B0609030804020204" pitchFamily="49" charset="0"/>
              </a:rPr>
              <a:t>getPassword</a:t>
            </a:r>
            <a:r>
              <a:rPr lang="en-US" sz="1400" dirty="0">
                <a:latin typeface="Menlo" panose="020B0609030804020204" pitchFamily="49" charset="0"/>
              </a:rPr>
              <a:t>() 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char 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[4];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b="1" dirty="0">
                <a:solidFill>
                  <a:srgbClr val="C00000"/>
                </a:solidFill>
                <a:latin typeface="Menlo" panose="020B0609030804020204" pitchFamily="49" charset="0"/>
              </a:rPr>
              <a:t>gets(</a:t>
            </a:r>
            <a:r>
              <a:rPr lang="en-US" sz="1400" b="1" dirty="0" err="1">
                <a:solidFill>
                  <a:srgbClr val="C00000"/>
                </a:solidFill>
                <a:latin typeface="Menlo" panose="020B0609030804020204" pitchFamily="49" charset="0"/>
              </a:rPr>
              <a:t>buf</a:t>
            </a:r>
            <a:r>
              <a:rPr lang="en-US" sz="1400" b="1" dirty="0">
                <a:solidFill>
                  <a:srgbClr val="C00000"/>
                </a:solidFill>
                <a:latin typeface="Menlo" panose="020B0609030804020204" pitchFamily="49" charset="0"/>
              </a:rPr>
              <a:t>);</a:t>
            </a:r>
            <a:endParaRPr lang="en-US" sz="1400" b="1" dirty="0">
              <a:solidFill>
                <a:srgbClr val="C00000"/>
              </a:solidFill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return </a:t>
            </a:r>
            <a:r>
              <a:rPr lang="en-US" sz="1400" dirty="0" err="1">
                <a:latin typeface="Menlo" panose="020B0609030804020204" pitchFamily="49" charset="0"/>
              </a:rPr>
              <a:t>strcmp</a:t>
            </a:r>
            <a:r>
              <a:rPr lang="en-US" sz="1400" dirty="0">
                <a:latin typeface="Menlo" panose="020B0609030804020204" pitchFamily="49" charset="0"/>
              </a:rPr>
              <a:t>(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, "SMT");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int </a:t>
            </a:r>
            <a:r>
              <a:rPr lang="en-US" sz="1400" b="1" dirty="0">
                <a:latin typeface="Menlo" panose="020B0609030804020204" pitchFamily="49" charset="0"/>
              </a:rPr>
              <a:t>main</a:t>
            </a:r>
            <a:r>
              <a:rPr lang="en-US" sz="1400" dirty="0">
                <a:latin typeface="Menlo" panose="020B0609030804020204" pitchFamily="49" charset="0"/>
              </a:rPr>
              <a:t>(){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(”Enter your password:\n");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int x = </a:t>
            </a:r>
            <a:r>
              <a:rPr lang="en-US" sz="1400" b="1" dirty="0" err="1">
                <a:latin typeface="Menlo" panose="020B0609030804020204" pitchFamily="49" charset="0"/>
              </a:rPr>
              <a:t>getPassword</a:t>
            </a:r>
            <a:r>
              <a:rPr lang="en-US" sz="1400" dirty="0">
                <a:latin typeface="Menlo" panose="020B0609030804020204" pitchFamily="49" charset="0"/>
              </a:rPr>
              <a:t>();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if(x){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 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("Access Denied\n");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   exit(0);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}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("Access Granted\n"); 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return 0;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}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3DC1C6E-4C16-D5D7-4334-446CEB24D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Motivating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2DC97-24BC-F7C4-CC0D-40DBD7FE23AF}"/>
              </a:ext>
            </a:extLst>
          </p:cNvPr>
          <p:cNvSpPr/>
          <p:nvPr/>
        </p:nvSpPr>
        <p:spPr>
          <a:xfrm>
            <a:off x="5729810" y="4017364"/>
            <a:ext cx="6241473" cy="1768839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518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0ED1-0B9A-3ED7-9710-AB5891AD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7B3C9-367B-6AF0-2C9A-3E642F91D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29810" y="1690688"/>
            <a:ext cx="6241473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>
                <a:latin typeface="Aptos" panose="020B0004020202020204" pitchFamily="34" charset="0"/>
                <a:cs typeface="Arial"/>
              </a:rPr>
              <a:t>What happens if the user enters “SMT"?</a:t>
            </a:r>
          </a:p>
          <a:p>
            <a:endParaRPr lang="en-US" sz="2600" dirty="0">
              <a:latin typeface="Aptos" panose="020B0004020202020204" pitchFamily="34" charset="0"/>
              <a:cs typeface="Arial"/>
            </a:endParaRPr>
          </a:p>
          <a:p>
            <a:r>
              <a:rPr lang="en-US" sz="2600" dirty="0">
                <a:latin typeface="Aptos" panose="020B0004020202020204" pitchFamily="34" charset="0"/>
                <a:cs typeface="Arial"/>
              </a:rPr>
              <a:t>On a Linux x64 platform running GCC 4.8.2, an input consisting of 24 arbitrary characters followed by </a:t>
            </a:r>
            <a:r>
              <a:rPr lang="en-US" sz="2600" i="1" dirty="0">
                <a:latin typeface="Aptos" panose="020B0004020202020204" pitchFamily="34" charset="0"/>
                <a:cs typeface="Arial"/>
              </a:rPr>
              <a:t>]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, </a:t>
            </a:r>
            <a:r>
              <a:rPr lang="en-US" sz="2600" i="1" dirty="0">
                <a:latin typeface="Aptos" panose="020B0004020202020204" pitchFamily="34" charset="0"/>
                <a:cs typeface="Arial"/>
              </a:rPr>
              <a:t>&lt;ctrl-f&gt;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, and </a:t>
            </a:r>
            <a:r>
              <a:rPr lang="en-US" sz="2600" i="1" dirty="0">
                <a:latin typeface="Aptos" panose="020B0004020202020204" pitchFamily="34" charset="0"/>
                <a:cs typeface="Arial"/>
              </a:rPr>
              <a:t>@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,</a:t>
            </a:r>
            <a:r>
              <a:rPr lang="en-US" sz="26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will bypass the “Access Denied”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 message </a:t>
            </a:r>
            <a:r>
              <a:rPr lang="en-US" sz="3500" dirty="0">
                <a:latin typeface="Aptos" panose="020B0004020202020204" pitchFamily="34" charset="0"/>
                <a:cs typeface="Arial"/>
              </a:rPr>
              <a:t>🏴‍☠️</a:t>
            </a:r>
            <a:br>
              <a:rPr lang="en-US" sz="2600" dirty="0">
                <a:latin typeface="Aptos" panose="020B0004020202020204" pitchFamily="34" charset="0"/>
                <a:cs typeface="Arial"/>
              </a:rPr>
            </a:br>
            <a:endParaRPr lang="en-US" sz="2600" dirty="0">
              <a:latin typeface="Aptos" panose="020B0004020202020204" pitchFamily="34" charset="0"/>
              <a:cs typeface="Arial"/>
            </a:endParaRPr>
          </a:p>
          <a:p>
            <a:r>
              <a:rPr lang="en-US" sz="2600" dirty="0">
                <a:latin typeface="Aptos" panose="020B0004020202020204" pitchFamily="34" charset="0"/>
                <a:cs typeface="Arial"/>
              </a:rPr>
              <a:t>A more extended input will run over into other parts of the </a:t>
            </a:r>
            <a:r>
              <a:rPr lang="en-US" sz="2600" b="1" dirty="0">
                <a:latin typeface="Aptos" panose="020B0004020202020204" pitchFamily="34" charset="0"/>
                <a:cs typeface="Arial"/>
              </a:rPr>
              <a:t>computer memory</a:t>
            </a:r>
            <a:br>
              <a:rPr lang="en-US" sz="2600" b="1" dirty="0">
                <a:latin typeface="Aptos" panose="020B0004020202020204" pitchFamily="34" charset="0"/>
                <a:cs typeface="Arial"/>
              </a:rPr>
            </a:br>
            <a:r>
              <a:rPr lang="en-US" sz="2600" dirty="0">
                <a:latin typeface="Aptos" panose="020B0004020202020204" pitchFamily="34" charset="0"/>
                <a:cs typeface="Arial"/>
              </a:rPr>
              <a:t>(</a:t>
            </a:r>
            <a:r>
              <a:rPr lang="en-US" sz="26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gets is unsafe: no bounds check</a:t>
            </a:r>
            <a:r>
              <a:rPr lang="en-US" sz="2600" dirty="0">
                <a:latin typeface="Aptos" panose="020B0004020202020204" pitchFamily="34" charset="0"/>
                <a:cs typeface="Arial"/>
              </a:rPr>
              <a:t>)</a:t>
            </a:r>
            <a:br>
              <a:rPr lang="en-US" sz="2600" dirty="0">
                <a:latin typeface="Aptos" panose="020B0004020202020204" pitchFamily="34" charset="0"/>
                <a:cs typeface="Arial"/>
              </a:rPr>
            </a:br>
            <a:br>
              <a:rPr lang="en-US" sz="2600" dirty="0">
                <a:latin typeface="Aptos" panose="020B0004020202020204" pitchFamily="34" charset="0"/>
                <a:cs typeface="Arial"/>
              </a:rPr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18771-38A9-DD11-ABA8-F428942C3B4C}"/>
              </a:ext>
            </a:extLst>
          </p:cNvPr>
          <p:cNvSpPr txBox="1"/>
          <p:nvPr/>
        </p:nvSpPr>
        <p:spPr>
          <a:xfrm>
            <a:off x="838200" y="1690688"/>
            <a:ext cx="4563879" cy="4404983"/>
          </a:xfrm>
          <a:prstGeom prst="rect">
            <a:avLst/>
          </a:prstGeom>
          <a:solidFill>
            <a:srgbClr val="FFFF00">
              <a:alpha val="15000"/>
            </a:srgbClr>
          </a:solidFill>
          <a:ln w="12700">
            <a:solidFill>
              <a:schemeClr val="bg2">
                <a:lumMod val="25000"/>
              </a:schemeClr>
            </a:solidFill>
          </a:ln>
        </p:spPr>
        <p:txBody>
          <a:bodyPr wrap="square" lIns="9144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stdlib.h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#include &lt;</a:t>
            </a:r>
            <a:r>
              <a:rPr lang="en-US" sz="1400" dirty="0" err="1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string.h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Menlo" panose="020B0609030804020204" pitchFamily="49" charset="0"/>
              </a:rPr>
              <a:t>&gt;</a:t>
            </a:r>
          </a:p>
          <a:p>
            <a:pPr>
              <a:buNone/>
            </a:pPr>
            <a:endParaRPr lang="en-US" sz="14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int </a:t>
            </a:r>
            <a:r>
              <a:rPr lang="en-US" sz="1400" b="1" dirty="0" err="1">
                <a:latin typeface="Menlo" panose="020B0609030804020204" pitchFamily="49" charset="0"/>
              </a:rPr>
              <a:t>getPassword</a:t>
            </a:r>
            <a:r>
              <a:rPr lang="en-US" sz="1400" dirty="0">
                <a:latin typeface="Menlo" panose="020B0609030804020204" pitchFamily="49" charset="0"/>
              </a:rPr>
              <a:t>() 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char 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[4];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b="1" dirty="0">
                <a:solidFill>
                  <a:srgbClr val="C00000"/>
                </a:solidFill>
                <a:latin typeface="Menlo" panose="020B0609030804020204" pitchFamily="49" charset="0"/>
              </a:rPr>
              <a:t>gets(</a:t>
            </a:r>
            <a:r>
              <a:rPr lang="en-US" sz="1400" b="1" dirty="0" err="1">
                <a:solidFill>
                  <a:srgbClr val="C00000"/>
                </a:solidFill>
                <a:latin typeface="Menlo" panose="020B0609030804020204" pitchFamily="49" charset="0"/>
              </a:rPr>
              <a:t>buf</a:t>
            </a:r>
            <a:r>
              <a:rPr lang="en-US" sz="1400" b="1" dirty="0">
                <a:solidFill>
                  <a:srgbClr val="C00000"/>
                </a:solidFill>
                <a:latin typeface="Menlo" panose="020B0609030804020204" pitchFamily="49" charset="0"/>
              </a:rPr>
              <a:t>);</a:t>
            </a:r>
            <a:endParaRPr lang="en-US" sz="1400" b="1" dirty="0">
              <a:solidFill>
                <a:srgbClr val="C00000"/>
              </a:solidFill>
              <a:highlight>
                <a:srgbClr val="FFFF00"/>
              </a:highlight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return </a:t>
            </a:r>
            <a:r>
              <a:rPr lang="en-US" sz="1400" dirty="0" err="1">
                <a:latin typeface="Menlo" panose="020B0609030804020204" pitchFamily="49" charset="0"/>
              </a:rPr>
              <a:t>strcmp</a:t>
            </a:r>
            <a:r>
              <a:rPr lang="en-US" sz="1400" dirty="0">
                <a:latin typeface="Menlo" panose="020B0609030804020204" pitchFamily="49" charset="0"/>
              </a:rPr>
              <a:t>(</a:t>
            </a:r>
            <a:r>
              <a:rPr lang="en-US" sz="1400" dirty="0" err="1">
                <a:latin typeface="Menlo" panose="020B0609030804020204" pitchFamily="49" charset="0"/>
              </a:rPr>
              <a:t>buf</a:t>
            </a:r>
            <a:r>
              <a:rPr lang="en-US" sz="1400" dirty="0">
                <a:latin typeface="Menlo" panose="020B0609030804020204" pitchFamily="49" charset="0"/>
              </a:rPr>
              <a:t>, "SMT");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}</a:t>
            </a:r>
          </a:p>
          <a:p>
            <a:pPr>
              <a:buNone/>
            </a:pPr>
            <a:endParaRPr lang="en-US" sz="1400" dirty="0"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int </a:t>
            </a:r>
            <a:r>
              <a:rPr lang="en-US" sz="1400" b="1" dirty="0">
                <a:latin typeface="Menlo" panose="020B0609030804020204" pitchFamily="49" charset="0"/>
              </a:rPr>
              <a:t>main</a:t>
            </a:r>
            <a:r>
              <a:rPr lang="en-US" sz="1400" dirty="0">
                <a:latin typeface="Menlo" panose="020B0609030804020204" pitchFamily="49" charset="0"/>
              </a:rPr>
              <a:t>(){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(”Enter your password:\n");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int x = </a:t>
            </a:r>
            <a:r>
              <a:rPr lang="en-US" sz="1400" b="1" dirty="0" err="1">
                <a:latin typeface="Menlo" panose="020B0609030804020204" pitchFamily="49" charset="0"/>
              </a:rPr>
              <a:t>getPassword</a:t>
            </a:r>
            <a:r>
              <a:rPr lang="en-US" sz="1400" dirty="0">
                <a:latin typeface="Menlo" panose="020B0609030804020204" pitchFamily="49" charset="0"/>
              </a:rPr>
              <a:t>();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if(x){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 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("Access Denied\n");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   exit(0);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}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</a:t>
            </a:r>
            <a:r>
              <a:rPr lang="en-US" sz="1400" dirty="0" err="1">
                <a:latin typeface="Menlo" panose="020B0609030804020204" pitchFamily="49" charset="0"/>
              </a:rPr>
              <a:t>printf</a:t>
            </a:r>
            <a:r>
              <a:rPr lang="en-US" sz="1400" dirty="0">
                <a:latin typeface="Menlo" panose="020B0609030804020204" pitchFamily="49" charset="0"/>
              </a:rPr>
              <a:t>("Access Granted\n"); 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  return 0;</a:t>
            </a:r>
          </a:p>
          <a:p>
            <a:pPr>
              <a:buNone/>
            </a:pPr>
            <a:r>
              <a:rPr lang="en-US" sz="1400" dirty="0">
                <a:latin typeface="Menlo" panose="020B0609030804020204" pitchFamily="49" charset="0"/>
              </a:rPr>
              <a:t>}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9FE01A6-32B2-1CA3-667E-B27909FA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Motivating Example</a:t>
            </a:r>
          </a:p>
        </p:txBody>
      </p:sp>
    </p:spTree>
    <p:extLst>
      <p:ext uri="{BB962C8B-B14F-4D97-AF65-F5344CB8AC3E}">
        <p14:creationId xmlns:p14="http://schemas.microsoft.com/office/powerpoint/2010/main" val="59638152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38B1-9F54-DACB-9996-C4022203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BCE0-B145-FD6F-AB29-B6A3DCC8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09F3B-2F3B-F3E3-3DC8-14149AC66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1001703" cy="4351338"/>
          </a:xfrm>
        </p:spPr>
        <p:txBody>
          <a:bodyPr>
            <a:normAutofit fontScale="92500" lnSpcReduction="10000"/>
          </a:bodyPr>
          <a:lstStyle/>
          <a:p>
            <a:endParaRPr lang="en-US" sz="3200" dirty="0"/>
          </a:p>
          <a:p>
            <a:r>
              <a:rPr lang="en-US" sz="3200" dirty="0"/>
              <a:t>…but I’m using python! 🤓</a:t>
            </a:r>
          </a:p>
          <a:p>
            <a:endParaRPr lang="en-US" sz="3200" dirty="0"/>
          </a:p>
          <a:p>
            <a:r>
              <a:rPr lang="en-US" sz="3200" dirty="0"/>
              <a:t>Who cares about C anyway?  </a:t>
            </a:r>
          </a:p>
          <a:p>
            <a:pPr lvl="1"/>
            <a:r>
              <a:rPr lang="en-US" sz="3200" dirty="0"/>
              <a:t>This is not only a C problem… (there are many other “unsafe” languages) 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Python itself (interpreter) is written in C! </a:t>
            </a:r>
          </a:p>
          <a:p>
            <a:r>
              <a:rPr lang="en-US" sz="3200" dirty="0"/>
              <a:t>And most existing critical systems (OS, DB, Network </a:t>
            </a:r>
            <a:r>
              <a:rPr lang="en-US" sz="3200" dirty="0" err="1"/>
              <a:t>prot</a:t>
            </a:r>
            <a:r>
              <a:rPr lang="en-US" sz="3200" dirty="0"/>
              <a:t>, </a:t>
            </a:r>
            <a:r>
              <a:rPr lang="en-US" sz="3200" dirty="0" err="1"/>
              <a:t>etc</a:t>
            </a:r>
            <a:r>
              <a:rPr lang="en-US" sz="3200" dirty="0"/>
              <a:t>)</a:t>
            </a:r>
          </a:p>
          <a:p>
            <a:endParaRPr lang="en-US" dirty="0"/>
          </a:p>
          <a:p>
            <a:pPr marL="342865" indent="-342865">
              <a:buFont typeface="Arial"/>
              <a:buChar char="•"/>
            </a:pPr>
            <a:endParaRPr lang="en-US" sz="2600" dirty="0">
              <a:latin typeface="Aptos" panose="020B0004020202020204" pitchFamily="34" charset="0"/>
              <a:cs typeface="Arial"/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2589A1-94AC-72F4-EC36-F2D3E7A9E7F9}"/>
              </a:ext>
            </a:extLst>
          </p:cNvPr>
          <p:cNvSpPr/>
          <p:nvPr/>
        </p:nvSpPr>
        <p:spPr>
          <a:xfrm>
            <a:off x="644578" y="2998033"/>
            <a:ext cx="11326706" cy="317893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2495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E55D-FE5A-D848-BA44-CE95BBF2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EFDAC-DCE9-E2F9-7E38-385005BA2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830DD-8880-15AB-9321-1102202DD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1001703" cy="4351338"/>
          </a:xfrm>
        </p:spPr>
        <p:txBody>
          <a:bodyPr>
            <a:normAutofit fontScale="92500" lnSpcReduction="10000"/>
          </a:bodyPr>
          <a:lstStyle/>
          <a:p>
            <a:endParaRPr lang="en-US" sz="3200" dirty="0"/>
          </a:p>
          <a:p>
            <a:r>
              <a:rPr lang="en-US" sz="3200" dirty="0"/>
              <a:t>…but I’m using python! 🤓</a:t>
            </a:r>
          </a:p>
          <a:p>
            <a:endParaRPr lang="en-US" sz="3200" dirty="0"/>
          </a:p>
          <a:p>
            <a:r>
              <a:rPr lang="en-US" sz="3200" dirty="0"/>
              <a:t>Who cares about C anyway?  </a:t>
            </a:r>
          </a:p>
          <a:p>
            <a:pPr lvl="1"/>
            <a:r>
              <a:rPr lang="en-US" sz="3200" dirty="0"/>
              <a:t>This is not only a C problem… (there are many other “unsafe” languages) 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Python itself (interpreter) is written in C! </a:t>
            </a:r>
          </a:p>
          <a:p>
            <a:r>
              <a:rPr lang="en-US" sz="3200" dirty="0"/>
              <a:t>And most existing critical systems (OS, DB, Network </a:t>
            </a:r>
            <a:r>
              <a:rPr lang="en-US" sz="3200" dirty="0" err="1"/>
              <a:t>prot</a:t>
            </a:r>
            <a:r>
              <a:rPr lang="en-US" sz="3200" dirty="0"/>
              <a:t>, </a:t>
            </a:r>
            <a:r>
              <a:rPr lang="en-US" sz="3200" dirty="0" err="1"/>
              <a:t>etc</a:t>
            </a:r>
            <a:r>
              <a:rPr lang="en-US" sz="3200" dirty="0"/>
              <a:t>)</a:t>
            </a:r>
          </a:p>
          <a:p>
            <a:endParaRPr lang="en-US" dirty="0"/>
          </a:p>
          <a:p>
            <a:pPr marL="342865" indent="-342865">
              <a:buFont typeface="Arial"/>
              <a:buChar char="•"/>
            </a:pPr>
            <a:endParaRPr lang="en-US" sz="2600" dirty="0">
              <a:latin typeface="Aptos" panose="020B0004020202020204" pitchFamily="34" charset="0"/>
              <a:cs typeface="Arial"/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D4AF8D-9A78-A2D5-8CD1-65CA22846117}"/>
              </a:ext>
            </a:extLst>
          </p:cNvPr>
          <p:cNvSpPr/>
          <p:nvPr/>
        </p:nvSpPr>
        <p:spPr>
          <a:xfrm>
            <a:off x="644578" y="4851399"/>
            <a:ext cx="11326706" cy="132556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9986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197DA-36C6-75F9-F6C1-09983B68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AA32-BBA6-0593-E529-9C7A25D1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3AB00-CB0B-EC21-7B35-9318C9C9E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1001703" cy="4351338"/>
          </a:xfrm>
        </p:spPr>
        <p:txBody>
          <a:bodyPr>
            <a:normAutofit fontScale="92500" lnSpcReduction="10000"/>
          </a:bodyPr>
          <a:lstStyle/>
          <a:p>
            <a:endParaRPr lang="en-US" sz="3200" dirty="0"/>
          </a:p>
          <a:p>
            <a:r>
              <a:rPr lang="en-US" sz="3200" dirty="0"/>
              <a:t>…but I’m using python! 🤓</a:t>
            </a:r>
          </a:p>
          <a:p>
            <a:endParaRPr lang="en-US" sz="3200" dirty="0"/>
          </a:p>
          <a:p>
            <a:r>
              <a:rPr lang="en-US" sz="3200" dirty="0"/>
              <a:t>Who cares about C anyway?  </a:t>
            </a:r>
          </a:p>
          <a:p>
            <a:pPr lvl="1"/>
            <a:r>
              <a:rPr lang="en-US" sz="3200" dirty="0"/>
              <a:t>This is not only a C problem… (there are many other “unsafe” languages) 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Python itself (interpreter) is written in C! </a:t>
            </a:r>
          </a:p>
          <a:p>
            <a:r>
              <a:rPr lang="en-US" sz="3200" dirty="0"/>
              <a:t>And most existing critical systems (OS, DB, Network </a:t>
            </a:r>
            <a:r>
              <a:rPr lang="en-US" sz="3200" dirty="0" err="1"/>
              <a:t>prot</a:t>
            </a:r>
            <a:r>
              <a:rPr lang="en-US" sz="3200" dirty="0"/>
              <a:t>, </a:t>
            </a:r>
            <a:r>
              <a:rPr lang="en-US" sz="3200" dirty="0" err="1"/>
              <a:t>etc</a:t>
            </a:r>
            <a:r>
              <a:rPr lang="en-US" sz="3200" dirty="0"/>
              <a:t>)</a:t>
            </a:r>
          </a:p>
          <a:p>
            <a:endParaRPr lang="en-US" dirty="0"/>
          </a:p>
          <a:p>
            <a:pPr marL="342865" indent="-342865">
              <a:buFont typeface="Arial"/>
              <a:buChar char="•"/>
            </a:pPr>
            <a:endParaRPr lang="en-US" sz="2600" dirty="0">
              <a:latin typeface="Aptos" panose="020B0004020202020204" pitchFamily="34" charset="0"/>
              <a:cs typeface="Arial"/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8503F7-7B9B-3A44-8884-58670DE2E5CB}"/>
              </a:ext>
            </a:extLst>
          </p:cNvPr>
          <p:cNvSpPr/>
          <p:nvPr/>
        </p:nvSpPr>
        <p:spPr>
          <a:xfrm>
            <a:off x="644578" y="5366479"/>
            <a:ext cx="11326706" cy="81048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0772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C0B5-CBCD-391C-418B-4F2F1CF5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31A9E-DA0E-1138-B946-9A92076BE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8462D-E668-71BD-EB93-6BF7DF716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1001703" cy="4351338"/>
          </a:xfrm>
        </p:spPr>
        <p:txBody>
          <a:bodyPr>
            <a:normAutofit fontScale="92500" lnSpcReduction="10000"/>
          </a:bodyPr>
          <a:lstStyle/>
          <a:p>
            <a:endParaRPr lang="en-US" sz="3200" dirty="0"/>
          </a:p>
          <a:p>
            <a:r>
              <a:rPr lang="en-US" sz="3200" dirty="0"/>
              <a:t>…but I’m using python! 🤓</a:t>
            </a:r>
          </a:p>
          <a:p>
            <a:endParaRPr lang="en-US" sz="3200" dirty="0"/>
          </a:p>
          <a:p>
            <a:r>
              <a:rPr lang="en-US" sz="3200" dirty="0"/>
              <a:t>Who cares about C anyway?  </a:t>
            </a:r>
          </a:p>
          <a:p>
            <a:pPr lvl="1"/>
            <a:r>
              <a:rPr lang="en-US" sz="3200" dirty="0"/>
              <a:t>This is not only a C problem… (there are many other “unsafe” languages) 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Python itself (interpreter) is written in C! </a:t>
            </a:r>
          </a:p>
          <a:p>
            <a:r>
              <a:rPr lang="en-US" sz="3200" dirty="0"/>
              <a:t>And most existing critical systems (OS, DB, Network </a:t>
            </a:r>
            <a:r>
              <a:rPr lang="en-US" sz="3200" dirty="0" err="1"/>
              <a:t>prot</a:t>
            </a:r>
            <a:r>
              <a:rPr lang="en-US" sz="3200" dirty="0"/>
              <a:t>, </a:t>
            </a:r>
            <a:r>
              <a:rPr lang="en-US" sz="3200" dirty="0" err="1"/>
              <a:t>etc</a:t>
            </a:r>
            <a:r>
              <a:rPr lang="en-US" sz="3200" dirty="0"/>
              <a:t>)</a:t>
            </a:r>
          </a:p>
          <a:p>
            <a:endParaRPr lang="en-US" dirty="0"/>
          </a:p>
          <a:p>
            <a:pPr marL="342865" indent="-342865">
              <a:buFont typeface="Arial"/>
              <a:buChar char="•"/>
            </a:pPr>
            <a:endParaRPr lang="en-US" sz="2600" dirty="0">
              <a:latin typeface="Aptos" panose="020B0004020202020204" pitchFamily="34" charset="0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3522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9A167-EB69-7DE0-29BD-DB9A58B80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070B598-902F-DCF0-EC49-561EDF352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838"/>
            <a:ext cx="10749455" cy="4631284"/>
          </a:xfrm>
        </p:spPr>
        <p:txBody>
          <a:bodyPr>
            <a:normAutofit/>
          </a:bodyPr>
          <a:lstStyle/>
          <a:p>
            <a:pPr marL="914305" lvl="2" indent="0">
              <a:buNone/>
            </a:pPr>
            <a:endParaRPr lang="en-US" sz="900" b="1" dirty="0">
              <a:latin typeface="Aptos" panose="020B0004020202020204" pitchFamily="34" charset="0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Security = Protection against </a:t>
            </a:r>
            <a:r>
              <a:rPr lang="en-US" sz="3200" b="1" u="sng" dirty="0">
                <a:solidFill>
                  <a:srgbClr val="C00000"/>
                </a:solidFill>
                <a:latin typeface="Arial"/>
                <a:cs typeface="Arial"/>
              </a:rPr>
              <a:t>intentional</a:t>
            </a:r>
            <a:r>
              <a:rPr lang="en-US" sz="3200" dirty="0">
                <a:latin typeface="Arial"/>
                <a:cs typeface="Arial"/>
              </a:rPr>
              <a:t> damage</a:t>
            </a: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Intentional damage: usually external threats</a:t>
            </a: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More features = higher attack risk</a:t>
            </a:r>
            <a:br>
              <a:rPr lang="en-US" sz="3200" dirty="0">
                <a:latin typeface="Arial"/>
                <a:cs typeface="Arial"/>
              </a:rPr>
            </a:b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Threat Model: assumptions, actors, who can attack, etc.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BC2988-F9EB-7181-3DC1-5691AB687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is Security?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CCF923-CA7D-A7E0-F652-0C11EAEB2FD9}"/>
              </a:ext>
            </a:extLst>
          </p:cNvPr>
          <p:cNvSpPr/>
          <p:nvPr/>
        </p:nvSpPr>
        <p:spPr>
          <a:xfrm>
            <a:off x="644578" y="2998033"/>
            <a:ext cx="11326706" cy="317893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28143"/>
      </p:ext>
    </p:extLst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06C60-A041-0AAF-A103-34E0395E7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E97E2CE-DB94-ED95-7735-9C749A66D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838"/>
            <a:ext cx="10749455" cy="4631284"/>
          </a:xfrm>
        </p:spPr>
        <p:txBody>
          <a:bodyPr>
            <a:normAutofit/>
          </a:bodyPr>
          <a:lstStyle/>
          <a:p>
            <a:pPr marL="914305" lvl="2" indent="0">
              <a:buNone/>
            </a:pPr>
            <a:endParaRPr lang="en-US" sz="900" b="1" dirty="0">
              <a:latin typeface="Aptos" panose="020B0004020202020204" pitchFamily="34" charset="0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Security = Protection against </a:t>
            </a:r>
            <a:r>
              <a:rPr lang="en-US" sz="3200" b="1" u="sng" dirty="0">
                <a:solidFill>
                  <a:srgbClr val="C00000"/>
                </a:solidFill>
                <a:latin typeface="Arial"/>
                <a:cs typeface="Arial"/>
              </a:rPr>
              <a:t>intentional</a:t>
            </a:r>
            <a:r>
              <a:rPr lang="en-US" sz="3200" dirty="0">
                <a:latin typeface="Arial"/>
                <a:cs typeface="Arial"/>
              </a:rPr>
              <a:t> damage</a:t>
            </a: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Intentional damage: usually external threats</a:t>
            </a: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More features = higher attack risk</a:t>
            </a:r>
            <a:br>
              <a:rPr lang="en-US" sz="3200" dirty="0">
                <a:latin typeface="Arial"/>
                <a:cs typeface="Arial"/>
              </a:rPr>
            </a:b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Threat Model: assumptions, actors, who can attack, etc.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59E53F-E1E1-AFE8-B389-26743BD38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is Security?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CD094-5293-4372-6714-206FEDB2361B}"/>
              </a:ext>
            </a:extLst>
          </p:cNvPr>
          <p:cNvSpPr/>
          <p:nvPr/>
        </p:nvSpPr>
        <p:spPr>
          <a:xfrm>
            <a:off x="644578" y="3957403"/>
            <a:ext cx="11326706" cy="22195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89526"/>
      </p:ext>
    </p:extLst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2B457-D9E4-223B-4F52-E96DAB7F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5D40912-5E00-9EDF-2CDB-1D4B8C019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838"/>
            <a:ext cx="10749455" cy="4631284"/>
          </a:xfrm>
        </p:spPr>
        <p:txBody>
          <a:bodyPr>
            <a:normAutofit/>
          </a:bodyPr>
          <a:lstStyle/>
          <a:p>
            <a:pPr marL="914305" lvl="2" indent="0">
              <a:buNone/>
            </a:pPr>
            <a:endParaRPr lang="en-US" sz="900" b="1" dirty="0">
              <a:latin typeface="Aptos" panose="020B0004020202020204" pitchFamily="34" charset="0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Security = Protection against </a:t>
            </a:r>
            <a:r>
              <a:rPr lang="en-US" sz="3200" b="1" u="sng" dirty="0">
                <a:solidFill>
                  <a:srgbClr val="C00000"/>
                </a:solidFill>
                <a:latin typeface="Arial"/>
                <a:cs typeface="Arial"/>
              </a:rPr>
              <a:t>intentional</a:t>
            </a:r>
            <a:r>
              <a:rPr lang="en-US" sz="3200" dirty="0">
                <a:latin typeface="Arial"/>
                <a:cs typeface="Arial"/>
              </a:rPr>
              <a:t> damage</a:t>
            </a: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Intentional damage: usually external threats</a:t>
            </a: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More features = higher attack risk</a:t>
            </a:r>
            <a:br>
              <a:rPr lang="en-US" sz="3200" dirty="0">
                <a:latin typeface="Arial"/>
                <a:cs typeface="Arial"/>
              </a:rPr>
            </a:b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Threat Model: assumptions, actors, who can attack, etc.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87C65E-363C-D67B-8F61-3FA1CF400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is Security?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D9F3C-8556-56BC-5123-41FF8D4F6BA0}"/>
              </a:ext>
            </a:extLst>
          </p:cNvPr>
          <p:cNvSpPr/>
          <p:nvPr/>
        </p:nvSpPr>
        <p:spPr>
          <a:xfrm>
            <a:off x="644578" y="5066675"/>
            <a:ext cx="11326706" cy="1110288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994367"/>
      </p:ext>
    </p:extLst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FC727-2F46-96FD-3069-1407655DE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8A1E415-64E5-6CA9-F4B7-76198EF68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838"/>
            <a:ext cx="10749455" cy="4631284"/>
          </a:xfrm>
        </p:spPr>
        <p:txBody>
          <a:bodyPr>
            <a:normAutofit/>
          </a:bodyPr>
          <a:lstStyle/>
          <a:p>
            <a:pPr marL="914305" lvl="2" indent="0">
              <a:buNone/>
            </a:pPr>
            <a:endParaRPr lang="en-US" sz="900" b="1" dirty="0">
              <a:latin typeface="Aptos" panose="020B0004020202020204" pitchFamily="34" charset="0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Security = Protection against </a:t>
            </a:r>
            <a:r>
              <a:rPr lang="en-US" sz="3200" b="1" u="sng" dirty="0">
                <a:solidFill>
                  <a:srgbClr val="C00000"/>
                </a:solidFill>
                <a:latin typeface="Arial"/>
                <a:cs typeface="Arial"/>
              </a:rPr>
              <a:t>intentional</a:t>
            </a:r>
            <a:r>
              <a:rPr lang="en-US" sz="3200" dirty="0">
                <a:latin typeface="Arial"/>
                <a:cs typeface="Arial"/>
              </a:rPr>
              <a:t> damage</a:t>
            </a: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Intentional damage: usually external threats</a:t>
            </a: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More features = higher attack risk</a:t>
            </a:r>
            <a:br>
              <a:rPr lang="en-US" sz="3200" dirty="0">
                <a:latin typeface="Arial"/>
                <a:cs typeface="Arial"/>
              </a:rPr>
            </a:b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Threat Model: assumptions, actors, who can attack, etc.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15348F-56D8-2DB7-7A42-7D2C1C50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What is Security?</a:t>
            </a:r>
          </a:p>
        </p:txBody>
      </p:sp>
    </p:spTree>
    <p:extLst>
      <p:ext uri="{BB962C8B-B14F-4D97-AF65-F5344CB8AC3E}">
        <p14:creationId xmlns:p14="http://schemas.microsoft.com/office/powerpoint/2010/main" val="1126556937"/>
      </p:ext>
    </p:extLst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4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1169156" y="4410393"/>
            <a:ext cx="10202917" cy="1649680"/>
          </a:xfrm>
        </p:spPr>
        <p:txBody>
          <a:bodyPr>
            <a:normAutofit/>
          </a:bodyPr>
          <a:lstStyle/>
          <a:p>
            <a:pPr lvl="1"/>
            <a:r>
              <a:rPr lang="en-US" sz="3000" dirty="0">
                <a:latin typeface="Aptos" panose="020B0004020202020204" pitchFamily="34" charset="0"/>
                <a:cs typeface="Arial"/>
              </a:rPr>
              <a:t>Alice: Honest user</a:t>
            </a:r>
          </a:p>
          <a:p>
            <a:pPr lvl="1"/>
            <a:r>
              <a:rPr lang="en-US" sz="3000" dirty="0">
                <a:latin typeface="Aptos" panose="020B0004020202020204" pitchFamily="34" charset="0"/>
                <a:cs typeface="Arial"/>
              </a:rPr>
              <a:t>Mallory: Malicious attacker</a:t>
            </a:r>
          </a:p>
          <a:p>
            <a:pPr lvl="1"/>
            <a:r>
              <a:rPr lang="en-US" sz="3000" dirty="0">
                <a:latin typeface="Aptos" panose="020B0004020202020204" pitchFamily="34" charset="0"/>
                <a:cs typeface="Arial"/>
              </a:rPr>
              <a:t>System: target of the attacker</a:t>
            </a:r>
          </a:p>
        </p:txBody>
      </p:sp>
      <p:sp>
        <p:nvSpPr>
          <p:cNvPr id="2" name="Rectangle 1"/>
          <p:cNvSpPr/>
          <p:nvPr/>
        </p:nvSpPr>
        <p:spPr>
          <a:xfrm>
            <a:off x="5736908" y="6382395"/>
            <a:ext cx="64550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Arial"/>
                <a:cs typeface="Arial"/>
              </a:rPr>
              <a:t>Boneh</a:t>
            </a:r>
            <a:r>
              <a:rPr lang="en-US" sz="1600" dirty="0">
                <a:latin typeface="Arial"/>
                <a:cs typeface="Arial"/>
              </a:rPr>
              <a:t>, D. and Mitchell, J., </a:t>
            </a:r>
            <a:r>
              <a:rPr lang="en-US" sz="1600" i="1" dirty="0">
                <a:latin typeface="Arial"/>
                <a:cs typeface="Arial"/>
              </a:rPr>
              <a:t>“Computer and Network Security”</a:t>
            </a:r>
            <a:r>
              <a:rPr lang="en-US" sz="1600" dirty="0">
                <a:latin typeface="Arial"/>
                <a:cs typeface="Arial"/>
              </a:rPr>
              <a:t>, 2009.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1E9CD2-6E51-2A17-59B0-0EA7A58F8FCC}"/>
              </a:ext>
            </a:extLst>
          </p:cNvPr>
          <p:cNvGrpSpPr/>
          <p:nvPr/>
        </p:nvGrpSpPr>
        <p:grpSpPr>
          <a:xfrm>
            <a:off x="1768366" y="1604646"/>
            <a:ext cx="8970635" cy="2608322"/>
            <a:chOff x="1768366" y="1604646"/>
            <a:chExt cx="8970635" cy="2608322"/>
          </a:xfrm>
        </p:grpSpPr>
        <p:sp>
          <p:nvSpPr>
            <p:cNvPr id="34" name="Rectangle 33"/>
            <p:cNvSpPr/>
            <p:nvPr/>
          </p:nvSpPr>
          <p:spPr bwMode="auto">
            <a:xfrm>
              <a:off x="5181481" y="1604646"/>
              <a:ext cx="2209800" cy="2286000"/>
            </a:xfrm>
            <a:prstGeom prst="rect">
              <a:avLst/>
            </a:prstGeom>
            <a:ln>
              <a:headEnd type="none" w="med" len="med"/>
              <a:tailEnd type="triangle" w="lg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latin typeface="Arial"/>
                  <a:cs typeface="Arial"/>
                </a:rPr>
                <a:t>System</a:t>
              </a:r>
            </a:p>
          </p:txBody>
        </p:sp>
        <p:sp>
          <p:nvSpPr>
            <p:cNvPr id="35" name="Rectangle 4"/>
            <p:cNvSpPr>
              <a:spLocks noChangeArrowheads="1"/>
            </p:cNvSpPr>
            <p:nvPr/>
          </p:nvSpPr>
          <p:spPr bwMode="auto">
            <a:xfrm>
              <a:off x="4648081" y="1609408"/>
              <a:ext cx="533400" cy="2286000"/>
            </a:xfrm>
            <a:prstGeom prst="rect">
              <a:avLst/>
            </a:prstGeom>
            <a:ln>
              <a:headEnd/>
              <a:tailEnd type="triangle" w="lg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36" name="Rectangle 5"/>
            <p:cNvSpPr>
              <a:spLocks noChangeArrowheads="1"/>
            </p:cNvSpPr>
            <p:nvPr/>
          </p:nvSpPr>
          <p:spPr bwMode="auto">
            <a:xfrm>
              <a:off x="7391281" y="1609408"/>
              <a:ext cx="533400" cy="2286000"/>
            </a:xfrm>
            <a:prstGeom prst="rect">
              <a:avLst/>
            </a:prstGeom>
            <a:ln>
              <a:headEnd/>
              <a:tailEnd type="triangle" w="lg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39" name="TextBox 11"/>
            <p:cNvSpPr txBox="1">
              <a:spLocks noChangeArrowheads="1"/>
            </p:cNvSpPr>
            <p:nvPr/>
          </p:nvSpPr>
          <p:spPr bwMode="auto">
            <a:xfrm>
              <a:off x="9270881" y="3812858"/>
              <a:ext cx="10118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latin typeface="Arial"/>
                  <a:cs typeface="Arial"/>
                </a:rPr>
                <a:t>Mallory</a:t>
              </a:r>
            </a:p>
          </p:txBody>
        </p:sp>
        <p:sp>
          <p:nvSpPr>
            <p:cNvPr id="40" name="TextBox 13"/>
            <p:cNvSpPr txBox="1">
              <a:spLocks noChangeArrowheads="1"/>
            </p:cNvSpPr>
            <p:nvPr/>
          </p:nvSpPr>
          <p:spPr bwMode="auto">
            <a:xfrm>
              <a:off x="2232126" y="3694415"/>
              <a:ext cx="74251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latin typeface="Arial"/>
                  <a:cs typeface="Arial"/>
                </a:rPr>
                <a:t>Alice</a:t>
              </a:r>
            </a:p>
          </p:txBody>
        </p:sp>
        <p:sp>
          <p:nvSpPr>
            <p:cNvPr id="41" name="Right Arrow 14"/>
            <p:cNvSpPr>
              <a:spLocks noChangeArrowheads="1"/>
            </p:cNvSpPr>
            <p:nvPr/>
          </p:nvSpPr>
          <p:spPr bwMode="auto">
            <a:xfrm>
              <a:off x="3809881" y="19904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699FF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2" name="Right Arrow 15"/>
            <p:cNvSpPr>
              <a:spLocks noChangeArrowheads="1"/>
            </p:cNvSpPr>
            <p:nvPr/>
          </p:nvSpPr>
          <p:spPr bwMode="auto">
            <a:xfrm flipH="1">
              <a:off x="3809881" y="29048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699FF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" name="Right Arrow 16"/>
            <p:cNvSpPr>
              <a:spLocks noChangeArrowheads="1"/>
            </p:cNvSpPr>
            <p:nvPr/>
          </p:nvSpPr>
          <p:spPr bwMode="auto">
            <a:xfrm>
              <a:off x="8077081" y="19904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" name="Right Arrow 17"/>
            <p:cNvSpPr>
              <a:spLocks noChangeArrowheads="1"/>
            </p:cNvSpPr>
            <p:nvPr/>
          </p:nvSpPr>
          <p:spPr bwMode="auto">
            <a:xfrm flipH="1">
              <a:off x="8077081" y="29048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8366" y="1690688"/>
              <a:ext cx="1983682" cy="192278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6701" y="1721168"/>
              <a:ext cx="1892300" cy="1892300"/>
            </a:xfrm>
            <a:prstGeom prst="rect">
              <a:avLst/>
            </a:prstGeom>
          </p:spPr>
        </p:pic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5169D638-F41B-6CE2-7CCA-31CF18B7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Threat Model</a:t>
            </a:r>
          </a:p>
        </p:txBody>
      </p:sp>
    </p:spTree>
    <p:extLst>
      <p:ext uri="{BB962C8B-B14F-4D97-AF65-F5344CB8AC3E}">
        <p14:creationId xmlns:p14="http://schemas.microsoft.com/office/powerpoint/2010/main" val="2651990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CAF6B-4A81-E0B0-7C7A-8FB4FD5A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3C02CA0-FEE0-8FF8-2CCE-F57E0CAB0F3F}"/>
              </a:ext>
            </a:extLst>
          </p:cNvPr>
          <p:cNvSpPr txBox="1">
            <a:spLocks/>
          </p:cNvSpPr>
          <p:nvPr/>
        </p:nvSpPr>
        <p:spPr>
          <a:xfrm>
            <a:off x="996395" y="1655708"/>
            <a:ext cx="5910826" cy="3456097"/>
          </a:xfrm>
          <a:prstGeom prst="rect">
            <a:avLst/>
          </a:prstGeom>
          <a:solidFill>
            <a:srgbClr val="0070C0">
              <a:alpha val="15000"/>
            </a:srgbClr>
          </a:solidFill>
          <a:ln w="254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500" b="1" dirty="0">
                <a:latin typeface="Aptos" panose="020B0004020202020204" pitchFamily="34" charset="0"/>
                <a:cs typeface="Arial"/>
              </a:rPr>
              <a:t>Confidentiality: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Attacker does not </a:t>
            </a:r>
            <a:r>
              <a:rPr lang="en-US" sz="2500" u="sng" dirty="0">
                <a:latin typeface="Aptos" panose="020B0004020202020204" pitchFamily="34" charset="0"/>
                <a:cs typeface="Arial"/>
              </a:rPr>
              <a:t>learn the user’s secrets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.</a:t>
            </a:r>
            <a:br>
              <a:rPr lang="en-US" sz="2500" dirty="0">
                <a:latin typeface="Aptos" panose="020B0004020202020204" pitchFamily="34" charset="0"/>
                <a:cs typeface="Arial"/>
              </a:rPr>
            </a:br>
            <a:endParaRPr lang="en-US" sz="2500" dirty="0">
              <a:latin typeface="Aptos" panose="020B0004020202020204" pitchFamily="34" charset="0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500" b="1" dirty="0">
                <a:latin typeface="Aptos" panose="020B0004020202020204" pitchFamily="34" charset="0"/>
                <a:cs typeface="Arial"/>
              </a:rPr>
              <a:t>Integrity: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Attacker does not </a:t>
            </a:r>
            <a:r>
              <a:rPr lang="en-US" sz="2500" u="sng" dirty="0">
                <a:latin typeface="Aptos" panose="020B0004020202020204" pitchFamily="34" charset="0"/>
                <a:cs typeface="Arial"/>
              </a:rPr>
              <a:t>undetectably corrupt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system’s function for the user</a:t>
            </a:r>
            <a:br>
              <a:rPr lang="en-US" dirty="0">
                <a:latin typeface="Aptos" panose="020B0004020202020204" pitchFamily="34" charset="0"/>
                <a:cs typeface="Arial"/>
              </a:rPr>
            </a:br>
            <a:endParaRPr lang="en-US" dirty="0">
              <a:latin typeface="Aptos" panose="020B0004020202020204" pitchFamily="34" charset="0"/>
              <a:cs typeface="Arial"/>
            </a:endParaRPr>
          </a:p>
          <a:p>
            <a:pPr marL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500" b="1" dirty="0">
                <a:latin typeface="Aptos" panose="020B0004020202020204" pitchFamily="34" charset="0"/>
                <a:cs typeface="Arial"/>
              </a:rPr>
              <a:t>Availability: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Attacker does not</a:t>
            </a:r>
            <a:r>
              <a:rPr lang="en-US" sz="2500" u="sng" dirty="0">
                <a:latin typeface="Aptos" panose="020B0004020202020204" pitchFamily="34" charset="0"/>
                <a:cs typeface="Arial"/>
              </a:rPr>
              <a:t> keep system from being usefu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l to the user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FECD38A-4577-9BE0-F932-A2CC0199E8C7}"/>
              </a:ext>
            </a:extLst>
          </p:cNvPr>
          <p:cNvGrpSpPr/>
          <p:nvPr/>
        </p:nvGrpSpPr>
        <p:grpSpPr>
          <a:xfrm>
            <a:off x="7342093" y="3124162"/>
            <a:ext cx="4150970" cy="997993"/>
            <a:chOff x="1768366" y="1604646"/>
            <a:chExt cx="8970635" cy="260832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4CC9F31-A935-F73F-51CD-70D72A2F05C8}"/>
                </a:ext>
              </a:extLst>
            </p:cNvPr>
            <p:cNvSpPr/>
            <p:nvPr/>
          </p:nvSpPr>
          <p:spPr bwMode="auto">
            <a:xfrm>
              <a:off x="5181481" y="1604646"/>
              <a:ext cx="2209800" cy="2286000"/>
            </a:xfrm>
            <a:prstGeom prst="rect">
              <a:avLst/>
            </a:prstGeom>
            <a:ln>
              <a:headEnd type="none" w="med" len="med"/>
              <a:tailEnd type="triangle" w="lg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latin typeface="Arial"/>
                  <a:cs typeface="Arial"/>
                </a:rPr>
                <a:t>System</a:t>
              </a: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EA598DCC-15CB-C335-1DBE-6E8D42035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081" y="1609408"/>
              <a:ext cx="533400" cy="2286000"/>
            </a:xfrm>
            <a:prstGeom prst="rect">
              <a:avLst/>
            </a:prstGeom>
            <a:ln>
              <a:headEnd/>
              <a:tailEnd type="triangle" w="lg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22" name="Rectangle 5">
              <a:extLst>
                <a:ext uri="{FF2B5EF4-FFF2-40B4-BE49-F238E27FC236}">
                  <a16:creationId xmlns:a16="http://schemas.microsoft.com/office/drawing/2014/main" id="{D31FA79B-D1E8-E5CA-11ED-CE3B94FE8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281" y="1609408"/>
              <a:ext cx="533400" cy="2286000"/>
            </a:xfrm>
            <a:prstGeom prst="rect">
              <a:avLst/>
            </a:prstGeom>
            <a:ln>
              <a:headEnd/>
              <a:tailEnd type="triangle" w="lg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23" name="TextBox 11">
              <a:extLst>
                <a:ext uri="{FF2B5EF4-FFF2-40B4-BE49-F238E27FC236}">
                  <a16:creationId xmlns:a16="http://schemas.microsoft.com/office/drawing/2014/main" id="{E2CD1B7B-0292-6D14-33D7-868433B54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0881" y="3812858"/>
              <a:ext cx="11464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latin typeface="Arial"/>
                  <a:cs typeface="Arial"/>
                </a:rPr>
                <a:t>Attacker</a:t>
              </a:r>
            </a:p>
          </p:txBody>
        </p:sp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0BC8D4D2-C540-50FC-7740-564A3FC82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682" y="3812858"/>
              <a:ext cx="7360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latin typeface="Arial"/>
                  <a:cs typeface="Arial"/>
                </a:rPr>
                <a:t>User</a:t>
              </a:r>
            </a:p>
          </p:txBody>
        </p:sp>
        <p:sp>
          <p:nvSpPr>
            <p:cNvPr id="25" name="Right Arrow 14">
              <a:extLst>
                <a:ext uri="{FF2B5EF4-FFF2-40B4-BE49-F238E27FC236}">
                  <a16:creationId xmlns:a16="http://schemas.microsoft.com/office/drawing/2014/main" id="{A701E0DC-F5E2-BEDB-2A75-8E40BFF1A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881" y="19904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699FF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" name="Right Arrow 15">
              <a:extLst>
                <a:ext uri="{FF2B5EF4-FFF2-40B4-BE49-F238E27FC236}">
                  <a16:creationId xmlns:a16="http://schemas.microsoft.com/office/drawing/2014/main" id="{D3BCA2D7-8EB4-7D9E-2B1E-75AAA31023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809881" y="29048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699FF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7" name="Right Arrow 16">
              <a:extLst>
                <a:ext uri="{FF2B5EF4-FFF2-40B4-BE49-F238E27FC236}">
                  <a16:creationId xmlns:a16="http://schemas.microsoft.com/office/drawing/2014/main" id="{F6B4CDFA-2667-51DE-6368-0FD6C1B8F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081" y="19904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8" name="Right Arrow 17">
              <a:extLst>
                <a:ext uri="{FF2B5EF4-FFF2-40B4-BE49-F238E27FC236}">
                  <a16:creationId xmlns:a16="http://schemas.microsoft.com/office/drawing/2014/main" id="{A201B40E-2304-0D1D-F359-F974209D875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077081" y="29048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4C492CA-70DA-E03F-2FBF-056E3F701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8366" y="1690688"/>
              <a:ext cx="1983682" cy="192278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670124C-EC00-625B-0FED-D2BFBE9B0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6701" y="1721168"/>
              <a:ext cx="1892300" cy="1892300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7C52F748-8BE1-CB30-F197-B003BCCC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/>
          <a:lstStyle/>
          <a:p>
            <a:r>
              <a:rPr lang="en-US" dirty="0"/>
              <a:t>CIA Principle: Expectations of Secure Systems</a:t>
            </a:r>
          </a:p>
        </p:txBody>
      </p:sp>
    </p:spTree>
    <p:extLst>
      <p:ext uri="{BB962C8B-B14F-4D97-AF65-F5344CB8AC3E}">
        <p14:creationId xmlns:p14="http://schemas.microsoft.com/office/powerpoint/2010/main" val="1280569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D0938-F9A0-183C-910E-B2B7D6C5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85E549-9791-F4D0-87FB-BB474BF21336}"/>
              </a:ext>
            </a:extLst>
          </p:cNvPr>
          <p:cNvSpPr txBox="1">
            <a:spLocks/>
          </p:cNvSpPr>
          <p:nvPr/>
        </p:nvSpPr>
        <p:spPr>
          <a:xfrm>
            <a:off x="996395" y="1655708"/>
            <a:ext cx="5910826" cy="3456097"/>
          </a:xfrm>
          <a:prstGeom prst="rect">
            <a:avLst/>
          </a:prstGeom>
          <a:solidFill>
            <a:srgbClr val="0070C0">
              <a:alpha val="15000"/>
            </a:srgbClr>
          </a:solidFill>
          <a:ln w="254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500" b="1" dirty="0">
                <a:latin typeface="Aptos" panose="020B0004020202020204" pitchFamily="34" charset="0"/>
                <a:cs typeface="Arial"/>
              </a:rPr>
              <a:t>Confidentiality: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Attacker does not </a:t>
            </a:r>
            <a:r>
              <a:rPr lang="en-US" sz="2500" u="sng" dirty="0">
                <a:latin typeface="Aptos" panose="020B0004020202020204" pitchFamily="34" charset="0"/>
                <a:cs typeface="Arial"/>
              </a:rPr>
              <a:t>learn the user’s secrets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.</a:t>
            </a:r>
            <a:br>
              <a:rPr lang="en-US" sz="2500" dirty="0">
                <a:latin typeface="Aptos" panose="020B0004020202020204" pitchFamily="34" charset="0"/>
                <a:cs typeface="Arial"/>
              </a:rPr>
            </a:br>
            <a:endParaRPr lang="en-US" sz="2500" dirty="0">
              <a:latin typeface="Aptos" panose="020B0004020202020204" pitchFamily="34" charset="0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500" b="1" dirty="0">
                <a:latin typeface="Aptos" panose="020B0004020202020204" pitchFamily="34" charset="0"/>
                <a:cs typeface="Arial"/>
              </a:rPr>
              <a:t>Integrity: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Attacker does not </a:t>
            </a:r>
            <a:r>
              <a:rPr lang="en-US" sz="2500" u="sng" dirty="0">
                <a:latin typeface="Aptos" panose="020B0004020202020204" pitchFamily="34" charset="0"/>
                <a:cs typeface="Arial"/>
              </a:rPr>
              <a:t>undetectably corrupt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system’s function for the user</a:t>
            </a:r>
            <a:br>
              <a:rPr lang="en-US" dirty="0">
                <a:latin typeface="Aptos" panose="020B0004020202020204" pitchFamily="34" charset="0"/>
                <a:cs typeface="Arial"/>
              </a:rPr>
            </a:br>
            <a:endParaRPr lang="en-US" dirty="0">
              <a:latin typeface="Aptos" panose="020B0004020202020204" pitchFamily="34" charset="0"/>
              <a:cs typeface="Arial"/>
            </a:endParaRPr>
          </a:p>
          <a:p>
            <a:pPr marL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500" b="1" dirty="0">
                <a:latin typeface="Aptos" panose="020B0004020202020204" pitchFamily="34" charset="0"/>
                <a:cs typeface="Arial"/>
              </a:rPr>
              <a:t>Availability: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Attacker does not</a:t>
            </a:r>
            <a:r>
              <a:rPr lang="en-US" sz="2500" u="sng" dirty="0">
                <a:latin typeface="Aptos" panose="020B0004020202020204" pitchFamily="34" charset="0"/>
                <a:cs typeface="Arial"/>
              </a:rPr>
              <a:t> keep system from being usefu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l to the user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92B50D3-42FB-12F6-0CEA-C3289D2EDDB1}"/>
              </a:ext>
            </a:extLst>
          </p:cNvPr>
          <p:cNvGrpSpPr/>
          <p:nvPr/>
        </p:nvGrpSpPr>
        <p:grpSpPr>
          <a:xfrm>
            <a:off x="7342093" y="3124162"/>
            <a:ext cx="4150970" cy="997993"/>
            <a:chOff x="1768366" y="1604646"/>
            <a:chExt cx="8970635" cy="260832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60F898-C8D8-3203-6BFC-A5465BAD72DA}"/>
                </a:ext>
              </a:extLst>
            </p:cNvPr>
            <p:cNvSpPr/>
            <p:nvPr/>
          </p:nvSpPr>
          <p:spPr bwMode="auto">
            <a:xfrm>
              <a:off x="5181481" y="1604646"/>
              <a:ext cx="2209800" cy="2286000"/>
            </a:xfrm>
            <a:prstGeom prst="rect">
              <a:avLst/>
            </a:prstGeom>
            <a:ln>
              <a:headEnd type="none" w="med" len="med"/>
              <a:tailEnd type="triangle" w="lg" len="med"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dirty="0">
                  <a:latin typeface="Arial"/>
                  <a:cs typeface="Arial"/>
                </a:rPr>
                <a:t>System</a:t>
              </a: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B9A49CB9-C6B6-4829-6629-9ECF5F062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081" y="1609408"/>
              <a:ext cx="533400" cy="2286000"/>
            </a:xfrm>
            <a:prstGeom prst="rect">
              <a:avLst/>
            </a:prstGeom>
            <a:ln>
              <a:headEnd/>
              <a:tailEnd type="triangle" w="lg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22" name="Rectangle 5">
              <a:extLst>
                <a:ext uri="{FF2B5EF4-FFF2-40B4-BE49-F238E27FC236}">
                  <a16:creationId xmlns:a16="http://schemas.microsoft.com/office/drawing/2014/main" id="{6D6C16D4-EBC9-CBB3-2331-73280C575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281" y="1609408"/>
              <a:ext cx="533400" cy="2286000"/>
            </a:xfrm>
            <a:prstGeom prst="rect">
              <a:avLst/>
            </a:prstGeom>
            <a:ln>
              <a:headEnd/>
              <a:tailEnd type="triangle" w="lg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/>
            <a:lstStyle/>
            <a:p>
              <a:endParaRPr lang="en-US"/>
            </a:p>
          </p:txBody>
        </p:sp>
        <p:sp>
          <p:nvSpPr>
            <p:cNvPr id="23" name="TextBox 11">
              <a:extLst>
                <a:ext uri="{FF2B5EF4-FFF2-40B4-BE49-F238E27FC236}">
                  <a16:creationId xmlns:a16="http://schemas.microsoft.com/office/drawing/2014/main" id="{24445FEB-38D6-5349-DEE6-1C93410D3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0881" y="3812858"/>
              <a:ext cx="11464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latin typeface="Arial"/>
                  <a:cs typeface="Arial"/>
                </a:rPr>
                <a:t>Attacker</a:t>
              </a:r>
            </a:p>
          </p:txBody>
        </p:sp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A7F9E174-8FB7-6FEC-531C-25A962F39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682" y="3812858"/>
              <a:ext cx="7360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dirty="0">
                  <a:latin typeface="Arial"/>
                  <a:cs typeface="Arial"/>
                </a:rPr>
                <a:t>User</a:t>
              </a:r>
            </a:p>
          </p:txBody>
        </p:sp>
        <p:sp>
          <p:nvSpPr>
            <p:cNvPr id="25" name="Right Arrow 14">
              <a:extLst>
                <a:ext uri="{FF2B5EF4-FFF2-40B4-BE49-F238E27FC236}">
                  <a16:creationId xmlns:a16="http://schemas.microsoft.com/office/drawing/2014/main" id="{3765197E-D40B-9925-859F-E49D9024A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881" y="19904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699FF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" name="Right Arrow 15">
              <a:extLst>
                <a:ext uri="{FF2B5EF4-FFF2-40B4-BE49-F238E27FC236}">
                  <a16:creationId xmlns:a16="http://schemas.microsoft.com/office/drawing/2014/main" id="{4EC0B684-4CD0-BDE2-694A-EC982219D60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809881" y="29048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699FF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7" name="Right Arrow 16">
              <a:extLst>
                <a:ext uri="{FF2B5EF4-FFF2-40B4-BE49-F238E27FC236}">
                  <a16:creationId xmlns:a16="http://schemas.microsoft.com/office/drawing/2014/main" id="{0886A00E-030C-7EE2-6163-4AFEA93CF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081" y="19904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8" name="Right Arrow 17">
              <a:extLst>
                <a:ext uri="{FF2B5EF4-FFF2-40B4-BE49-F238E27FC236}">
                  <a16:creationId xmlns:a16="http://schemas.microsoft.com/office/drawing/2014/main" id="{ACFE79B1-23EA-4EA2-3DDF-A27A9F44257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077081" y="2904808"/>
              <a:ext cx="685800" cy="4572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 type="triangle" w="lg" len="med"/>
            </a:ln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389A60D-117A-E4A7-C629-62B7EC65D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8366" y="1690688"/>
              <a:ext cx="1983682" cy="192278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F5E0BBA-34EA-CC2E-3B48-474552767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6701" y="1721168"/>
              <a:ext cx="1892300" cy="1892300"/>
            </a:xfrm>
            <a:prstGeom prst="rect">
              <a:avLst/>
            </a:prstGeom>
          </p:spPr>
        </p:pic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551174AA-3903-561B-F34D-99299A390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/>
          <a:lstStyle/>
          <a:p>
            <a:r>
              <a:rPr lang="en-US" dirty="0"/>
              <a:t>CIA Principle: Expectations of Secure Systems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A065FF-3A7F-8A22-5BC5-20745AFC6FC8}"/>
              </a:ext>
            </a:extLst>
          </p:cNvPr>
          <p:cNvSpPr txBox="1"/>
          <p:nvPr/>
        </p:nvSpPr>
        <p:spPr>
          <a:xfrm>
            <a:off x="1282946" y="5370833"/>
            <a:ext cx="10464724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solidFill>
                  <a:srgbClr val="C00000"/>
                </a:solidFill>
                <a:latin typeface="Aptos" panose="020B0004020202020204" pitchFamily="34" charset="0"/>
              </a:rPr>
              <a:t>A system is </a:t>
            </a:r>
            <a:r>
              <a:rPr lang="en-US" sz="2500" b="1" u="sng" dirty="0">
                <a:solidFill>
                  <a:srgbClr val="C00000"/>
                </a:solidFill>
                <a:latin typeface="Aptos" panose="020B0004020202020204" pitchFamily="34" charset="0"/>
              </a:rPr>
              <a:t>secure</a:t>
            </a:r>
            <a:r>
              <a:rPr lang="en-US" sz="2500" dirty="0">
                <a:solidFill>
                  <a:srgbClr val="C00000"/>
                </a:solidFill>
                <a:latin typeface="Aptos" panose="020B0004020202020204" pitchFamily="34" charset="0"/>
              </a:rPr>
              <a:t> if it satisfies the </a:t>
            </a:r>
            <a:r>
              <a:rPr lang="en-US" sz="25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specified/implied security objective, i.e.</a:t>
            </a:r>
            <a:br>
              <a:rPr lang="en-US" sz="25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</a:br>
            <a:r>
              <a:rPr lang="en-US" sz="2500" dirty="0">
                <a:solidFill>
                  <a:srgbClr val="C00000"/>
                </a:solidFill>
                <a:latin typeface="Aptos" panose="020B0004020202020204" pitchFamily="34" charset="0"/>
              </a:rPr>
              <a:t>	requirements on confidentiality, integrity, availability  </a:t>
            </a:r>
          </a:p>
          <a:p>
            <a:endParaRPr lang="en-US" sz="25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665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2C69-4337-D7F1-CA92-92664C1D7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E803B60-ABC4-15C4-FE72-75E9CB9CCC0C}"/>
              </a:ext>
            </a:extLst>
          </p:cNvPr>
          <p:cNvSpPr txBox="1">
            <a:spLocks/>
          </p:cNvSpPr>
          <p:nvPr/>
        </p:nvSpPr>
        <p:spPr>
          <a:xfrm>
            <a:off x="3376718" y="1949176"/>
            <a:ext cx="7977083" cy="3647583"/>
          </a:xfrm>
          <a:prstGeom prst="rect">
            <a:avLst/>
          </a:prstGeom>
          <a:solidFill>
            <a:srgbClr val="92D050">
              <a:alpha val="15000"/>
            </a:srgb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solidFill>
                  <a:srgbClr val="92D050"/>
                </a:solidFill>
                <a:latin typeface="Aptos" panose="020B0004020202020204" pitchFamily="34" charset="0"/>
                <a:cs typeface="Arial"/>
              </a:rPr>
              <a:t>Example:</a:t>
            </a:r>
            <a:r>
              <a:rPr lang="en-US" sz="2200" dirty="0">
                <a:solidFill>
                  <a:srgbClr val="92D050"/>
                </a:solidFill>
                <a:latin typeface="Aptos" panose="020B0004020202020204" pitchFamily="34" charset="0"/>
                <a:cs typeface="Arial"/>
              </a:rPr>
              <a:t> Linkify: fictitious social network</a:t>
            </a:r>
            <a:endParaRPr lang="en-US" sz="2200" b="1" dirty="0">
              <a:solidFill>
                <a:srgbClr val="92D050"/>
              </a:solidFill>
              <a:latin typeface="Aptos" panose="020B0004020202020204" pitchFamily="34" charset="0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ptos" panose="020B0004020202020204" pitchFamily="34" charset="0"/>
                <a:cs typeface="Arial"/>
              </a:rPr>
              <a:t>Confidentiality:</a:t>
            </a: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endParaRPr lang="en-US" sz="2200" dirty="0">
              <a:latin typeface="Aptos" panose="020B0004020202020204" pitchFamily="34" charset="0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ptos" panose="020B0004020202020204" pitchFamily="34" charset="0"/>
                <a:cs typeface="Arial"/>
              </a:rPr>
              <a:t>Integrity:</a:t>
            </a: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r>
              <a:rPr lang="en-US" sz="2200" b="1" dirty="0">
                <a:latin typeface="Aptos" panose="020B0004020202020204" pitchFamily="34" charset="0"/>
                <a:cs typeface="Arial"/>
              </a:rPr>
              <a:t>Availability:</a:t>
            </a:r>
            <a:endParaRPr lang="en-US" sz="2200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5A83A-B606-B6E3-2CDF-137C2B1E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/>
          <a:lstStyle/>
          <a:p>
            <a:r>
              <a:rPr lang="en-US" dirty="0"/>
              <a:t>Example: Social Network Application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F6B3D4-0458-1965-E110-C4B3E833B82B}"/>
              </a:ext>
            </a:extLst>
          </p:cNvPr>
          <p:cNvGrpSpPr/>
          <p:nvPr/>
        </p:nvGrpSpPr>
        <p:grpSpPr>
          <a:xfrm>
            <a:off x="838199" y="2698038"/>
            <a:ext cx="1968063" cy="2541834"/>
            <a:chOff x="838199" y="2288135"/>
            <a:chExt cx="1968063" cy="2541834"/>
          </a:xfrm>
        </p:grpSpPr>
        <p:pic>
          <p:nvPicPr>
            <p:cNvPr id="5" name="Picture 2" descr="Social network Generic gradient fill icon | Freepik">
              <a:extLst>
                <a:ext uri="{FF2B5EF4-FFF2-40B4-BE49-F238E27FC236}">
                  <a16:creationId xmlns:a16="http://schemas.microsoft.com/office/drawing/2014/main" id="{596990F0-2F0F-DF65-B0CD-6EF4C54402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99" y="2288135"/>
              <a:ext cx="1794642" cy="1794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D400B5-1BD3-1124-44D4-171251D3CD82}"/>
                </a:ext>
              </a:extLst>
            </p:cNvPr>
            <p:cNvSpPr txBox="1"/>
            <p:nvPr/>
          </p:nvSpPr>
          <p:spPr>
            <a:xfrm>
              <a:off x="901261" y="4183638"/>
              <a:ext cx="190500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/>
                <a:t>Linkify</a:t>
              </a:r>
              <a:endParaRPr 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51594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CE72D-C4C6-B7D6-021F-94C685B01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9D3CD6-41BE-6836-F88B-23526098D33A}"/>
              </a:ext>
            </a:extLst>
          </p:cNvPr>
          <p:cNvSpPr txBox="1">
            <a:spLocks/>
          </p:cNvSpPr>
          <p:nvPr/>
        </p:nvSpPr>
        <p:spPr>
          <a:xfrm>
            <a:off x="3376718" y="1949176"/>
            <a:ext cx="7977083" cy="3647583"/>
          </a:xfrm>
          <a:prstGeom prst="rect">
            <a:avLst/>
          </a:prstGeom>
          <a:solidFill>
            <a:srgbClr val="92D050">
              <a:alpha val="15000"/>
            </a:srgb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solidFill>
                  <a:srgbClr val="92D050"/>
                </a:solidFill>
                <a:latin typeface="Aptos" panose="020B0004020202020204" pitchFamily="34" charset="0"/>
                <a:cs typeface="Arial"/>
              </a:rPr>
              <a:t>Example:</a:t>
            </a:r>
            <a:r>
              <a:rPr lang="en-US" sz="2200" dirty="0">
                <a:solidFill>
                  <a:srgbClr val="92D050"/>
                </a:solidFill>
                <a:latin typeface="Aptos" panose="020B0004020202020204" pitchFamily="34" charset="0"/>
                <a:cs typeface="Arial"/>
              </a:rPr>
              <a:t> Linkify: fictitious social network</a:t>
            </a:r>
            <a:endParaRPr lang="en-US" sz="2200" b="1" dirty="0">
              <a:solidFill>
                <a:srgbClr val="92D050"/>
              </a:solidFill>
              <a:latin typeface="Aptos" panose="020B0004020202020204" pitchFamily="34" charset="0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ptos" panose="020B0004020202020204" pitchFamily="34" charset="0"/>
                <a:cs typeface="Arial"/>
              </a:rPr>
              <a:t>Confidentiality:  </a:t>
            </a:r>
            <a:r>
              <a:rPr lang="en-US" sz="2200" dirty="0">
                <a:latin typeface="Aptos" panose="020B0004020202020204" pitchFamily="34" charset="0"/>
                <a:cs typeface="Arial"/>
              </a:rPr>
              <a:t>Pictures posted by a user can only be seen by that user’s friends (3rd-order contacts)</a:t>
            </a: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endParaRPr lang="en-US" sz="2200" dirty="0">
              <a:latin typeface="Aptos" panose="020B0004020202020204" pitchFamily="34" charset="0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ptos" panose="020B0004020202020204" pitchFamily="34" charset="0"/>
                <a:cs typeface="Arial"/>
              </a:rPr>
              <a:t>Integrity:</a:t>
            </a: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r>
              <a:rPr lang="en-US" sz="2200" b="1" dirty="0">
                <a:latin typeface="Aptos" panose="020B0004020202020204" pitchFamily="34" charset="0"/>
                <a:cs typeface="Arial"/>
              </a:rPr>
              <a:t>Availability:</a:t>
            </a:r>
            <a:endParaRPr lang="en-US" sz="2200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2D4E0-8374-13E0-D90E-ED57E268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/>
          <a:lstStyle/>
          <a:p>
            <a:r>
              <a:rPr lang="en-US" dirty="0"/>
              <a:t>Example: Social Network Application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4D2190-3D63-1283-9DC1-B1BBF7B4584B}"/>
              </a:ext>
            </a:extLst>
          </p:cNvPr>
          <p:cNvGrpSpPr/>
          <p:nvPr/>
        </p:nvGrpSpPr>
        <p:grpSpPr>
          <a:xfrm>
            <a:off x="838199" y="2698038"/>
            <a:ext cx="1968063" cy="2541834"/>
            <a:chOff x="838199" y="2288135"/>
            <a:chExt cx="1968063" cy="2541834"/>
          </a:xfrm>
        </p:grpSpPr>
        <p:pic>
          <p:nvPicPr>
            <p:cNvPr id="5" name="Picture 2" descr="Social network Generic gradient fill icon | Freepik">
              <a:extLst>
                <a:ext uri="{FF2B5EF4-FFF2-40B4-BE49-F238E27FC236}">
                  <a16:creationId xmlns:a16="http://schemas.microsoft.com/office/drawing/2014/main" id="{E658225F-51A6-C89B-EEF3-19F7D5AD88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99" y="2288135"/>
              <a:ext cx="1794642" cy="1794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5A7575A-769F-A262-1238-619544427511}"/>
                </a:ext>
              </a:extLst>
            </p:cNvPr>
            <p:cNvSpPr txBox="1"/>
            <p:nvPr/>
          </p:nvSpPr>
          <p:spPr>
            <a:xfrm>
              <a:off x="901261" y="4183638"/>
              <a:ext cx="190500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/>
                <a:t>Linkify</a:t>
              </a:r>
              <a:endParaRPr 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45006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51DAB-E47D-9787-5E6B-74CDC7416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A0F454F-831F-25F6-77E5-EC9DB8C3731F}"/>
              </a:ext>
            </a:extLst>
          </p:cNvPr>
          <p:cNvSpPr txBox="1">
            <a:spLocks/>
          </p:cNvSpPr>
          <p:nvPr/>
        </p:nvSpPr>
        <p:spPr>
          <a:xfrm>
            <a:off x="3376718" y="1949176"/>
            <a:ext cx="7977083" cy="3647583"/>
          </a:xfrm>
          <a:prstGeom prst="rect">
            <a:avLst/>
          </a:prstGeom>
          <a:solidFill>
            <a:srgbClr val="92D050">
              <a:alpha val="15000"/>
            </a:srgb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solidFill>
                  <a:srgbClr val="92D050"/>
                </a:solidFill>
                <a:latin typeface="Aptos" panose="020B0004020202020204" pitchFamily="34" charset="0"/>
                <a:cs typeface="Arial"/>
              </a:rPr>
              <a:t>Example:</a:t>
            </a:r>
            <a:r>
              <a:rPr lang="en-US" sz="2200" dirty="0">
                <a:solidFill>
                  <a:srgbClr val="92D050"/>
                </a:solidFill>
                <a:latin typeface="Aptos" panose="020B0004020202020204" pitchFamily="34" charset="0"/>
                <a:cs typeface="Arial"/>
              </a:rPr>
              <a:t> Linkify: fictitious social network</a:t>
            </a:r>
            <a:endParaRPr lang="en-US" sz="2200" b="1" dirty="0">
              <a:solidFill>
                <a:srgbClr val="92D050"/>
              </a:solidFill>
              <a:latin typeface="Aptos" panose="020B0004020202020204" pitchFamily="34" charset="0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ptos" panose="020B0004020202020204" pitchFamily="34" charset="0"/>
                <a:cs typeface="Arial"/>
              </a:rPr>
              <a:t>Confidentiality:  </a:t>
            </a:r>
            <a:r>
              <a:rPr lang="en-US" sz="2200" dirty="0">
                <a:latin typeface="Aptos" panose="020B0004020202020204" pitchFamily="34" charset="0"/>
                <a:cs typeface="Arial"/>
              </a:rPr>
              <a:t>Pictures posted by a user can only be seen by that user’s friends (3rd-order contacts)</a:t>
            </a: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endParaRPr lang="en-US" sz="2200" dirty="0">
              <a:latin typeface="Aptos" panose="020B0004020202020204" pitchFamily="34" charset="0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ptos" panose="020B0004020202020204" pitchFamily="34" charset="0"/>
                <a:cs typeface="Arial"/>
              </a:rPr>
              <a:t>Integrity: </a:t>
            </a:r>
            <a:r>
              <a:rPr lang="en-US" sz="2200" dirty="0">
                <a:latin typeface="Aptos" panose="020B0004020202020204" pitchFamily="34" charset="0"/>
                <a:cs typeface="Arial"/>
              </a:rPr>
              <a:t>A user can like any given post at most once</a:t>
            </a: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r>
              <a:rPr lang="en-US" sz="2200" b="1" dirty="0">
                <a:latin typeface="Aptos" panose="020B0004020202020204" pitchFamily="34" charset="0"/>
                <a:cs typeface="Arial"/>
              </a:rPr>
              <a:t>Availability:</a:t>
            </a:r>
            <a:endParaRPr lang="en-US" sz="2200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42EAF-F074-4620-6331-B991E8FE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/>
          <a:lstStyle/>
          <a:p>
            <a:r>
              <a:rPr lang="en-US" dirty="0"/>
              <a:t>Example: Social Network Application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76731F-B38C-DDAF-29BE-3B42BFCE1B22}"/>
              </a:ext>
            </a:extLst>
          </p:cNvPr>
          <p:cNvGrpSpPr/>
          <p:nvPr/>
        </p:nvGrpSpPr>
        <p:grpSpPr>
          <a:xfrm>
            <a:off x="838199" y="2698038"/>
            <a:ext cx="1968063" cy="2541834"/>
            <a:chOff x="838199" y="2288135"/>
            <a:chExt cx="1968063" cy="2541834"/>
          </a:xfrm>
        </p:grpSpPr>
        <p:pic>
          <p:nvPicPr>
            <p:cNvPr id="5" name="Picture 2" descr="Social network Generic gradient fill icon | Freepik">
              <a:extLst>
                <a:ext uri="{FF2B5EF4-FFF2-40B4-BE49-F238E27FC236}">
                  <a16:creationId xmlns:a16="http://schemas.microsoft.com/office/drawing/2014/main" id="{B4B6E963-1329-8EC9-E53E-C6D4F4F7B9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99" y="2288135"/>
              <a:ext cx="1794642" cy="1794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0BDC87-279F-F652-1BC0-5FAE8B6DFDF5}"/>
                </a:ext>
              </a:extLst>
            </p:cNvPr>
            <p:cNvSpPr txBox="1"/>
            <p:nvPr/>
          </p:nvSpPr>
          <p:spPr>
            <a:xfrm>
              <a:off x="901261" y="4183638"/>
              <a:ext cx="190500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/>
                <a:t>Linkify</a:t>
              </a:r>
              <a:endParaRPr 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60791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B8F76-21E5-B057-CE79-05D4E820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6CC82C8-F361-EB06-9C5C-00EC68BAF87F}"/>
              </a:ext>
            </a:extLst>
          </p:cNvPr>
          <p:cNvSpPr txBox="1">
            <a:spLocks/>
          </p:cNvSpPr>
          <p:nvPr/>
        </p:nvSpPr>
        <p:spPr>
          <a:xfrm>
            <a:off x="3376718" y="1949176"/>
            <a:ext cx="7977083" cy="3647583"/>
          </a:xfrm>
          <a:prstGeom prst="rect">
            <a:avLst/>
          </a:prstGeom>
          <a:solidFill>
            <a:srgbClr val="92D050">
              <a:alpha val="15000"/>
            </a:srgb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>
            <a:lvl1pPr marL="342900" indent="-3429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solidFill>
                  <a:srgbClr val="92D050"/>
                </a:solidFill>
                <a:latin typeface="Aptos" panose="020B0004020202020204" pitchFamily="34" charset="0"/>
                <a:cs typeface="Arial"/>
              </a:rPr>
              <a:t>Example:</a:t>
            </a:r>
            <a:r>
              <a:rPr lang="en-US" sz="2200" dirty="0">
                <a:solidFill>
                  <a:srgbClr val="92D050"/>
                </a:solidFill>
                <a:latin typeface="Aptos" panose="020B0004020202020204" pitchFamily="34" charset="0"/>
                <a:cs typeface="Arial"/>
              </a:rPr>
              <a:t> Linkify: fictitious social network</a:t>
            </a:r>
            <a:endParaRPr lang="en-US" sz="2200" b="1" dirty="0">
              <a:solidFill>
                <a:srgbClr val="92D050"/>
              </a:solidFill>
              <a:latin typeface="Aptos" panose="020B0004020202020204" pitchFamily="34" charset="0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ptos" panose="020B0004020202020204" pitchFamily="34" charset="0"/>
                <a:cs typeface="Arial"/>
              </a:rPr>
              <a:t>Confidentiality:  </a:t>
            </a:r>
            <a:r>
              <a:rPr lang="en-US" sz="2200" dirty="0">
                <a:latin typeface="Aptos" panose="020B0004020202020204" pitchFamily="34" charset="0"/>
                <a:cs typeface="Arial"/>
              </a:rPr>
              <a:t>Pictures posted by a user can only be seen by that user’s friends (3rd-order contacts)</a:t>
            </a: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endParaRPr lang="en-US" sz="2200" dirty="0">
              <a:latin typeface="Aptos" panose="020B0004020202020204" pitchFamily="34" charset="0"/>
              <a:cs typeface="Arial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Clr>
                <a:schemeClr val="hlink"/>
              </a:buClr>
              <a:buSzPct val="110000"/>
            </a:pPr>
            <a:r>
              <a:rPr lang="en-US" sz="2200" b="1" dirty="0">
                <a:latin typeface="Aptos" panose="020B0004020202020204" pitchFamily="34" charset="0"/>
                <a:cs typeface="Arial"/>
              </a:rPr>
              <a:t>Integrity: </a:t>
            </a:r>
            <a:r>
              <a:rPr lang="en-US" sz="2200" dirty="0">
                <a:latin typeface="Aptos" panose="020B0004020202020204" pitchFamily="34" charset="0"/>
                <a:cs typeface="Arial"/>
              </a:rPr>
              <a:t>A user can like any given post at most once</a:t>
            </a: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br>
              <a:rPr lang="en-US" sz="2200" b="1" dirty="0">
                <a:latin typeface="Aptos" panose="020B0004020202020204" pitchFamily="34" charset="0"/>
                <a:cs typeface="Arial"/>
              </a:rPr>
            </a:br>
            <a:r>
              <a:rPr lang="en-US" sz="2200" b="1" dirty="0">
                <a:latin typeface="Aptos" panose="020B0004020202020204" pitchFamily="34" charset="0"/>
                <a:cs typeface="Arial"/>
              </a:rPr>
              <a:t>Availability: </a:t>
            </a:r>
            <a:r>
              <a:rPr lang="en-US" sz="2200" dirty="0">
                <a:latin typeface="Aptos" panose="020B0004020202020204" pitchFamily="34" charset="0"/>
                <a:cs typeface="Arial"/>
              </a:rPr>
              <a:t>The service is operational more than </a:t>
            </a:r>
            <a:r>
              <a:rPr lang="en-US" sz="2200" u="sng" dirty="0">
                <a:latin typeface="Aptos" panose="020B0004020202020204" pitchFamily="34" charset="0"/>
                <a:cs typeface="Arial"/>
              </a:rPr>
              <a:t>99.9% </a:t>
            </a:r>
            <a:r>
              <a:rPr lang="en-US" sz="2200" dirty="0">
                <a:latin typeface="Aptos" panose="020B0004020202020204" pitchFamily="34" charset="0"/>
                <a:cs typeface="Arial"/>
              </a:rPr>
              <a:t>of the time on average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8DE3A-B29C-797D-07E8-C7A27C49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/>
          <a:lstStyle/>
          <a:p>
            <a:r>
              <a:rPr lang="en-US" dirty="0"/>
              <a:t>Example: Social Network Application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64E2DA-57EF-A7DE-EC7A-4E78F9CDFB47}"/>
              </a:ext>
            </a:extLst>
          </p:cNvPr>
          <p:cNvGrpSpPr/>
          <p:nvPr/>
        </p:nvGrpSpPr>
        <p:grpSpPr>
          <a:xfrm>
            <a:off x="838199" y="2698038"/>
            <a:ext cx="1968063" cy="2541834"/>
            <a:chOff x="838199" y="2288135"/>
            <a:chExt cx="1968063" cy="2541834"/>
          </a:xfrm>
        </p:grpSpPr>
        <p:pic>
          <p:nvPicPr>
            <p:cNvPr id="5" name="Picture 2" descr="Social network Generic gradient fill icon | Freepik">
              <a:extLst>
                <a:ext uri="{FF2B5EF4-FFF2-40B4-BE49-F238E27FC236}">
                  <a16:creationId xmlns:a16="http://schemas.microsoft.com/office/drawing/2014/main" id="{A0158710-3C52-79F9-BA4D-D7C4005832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99" y="2288135"/>
              <a:ext cx="1794642" cy="1794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BB49C3-CCE5-32E4-3C79-6FB48FB44CEA}"/>
                </a:ext>
              </a:extLst>
            </p:cNvPr>
            <p:cNvSpPr txBox="1"/>
            <p:nvPr/>
          </p:nvSpPr>
          <p:spPr>
            <a:xfrm>
              <a:off x="901261" y="4183638"/>
              <a:ext cx="190500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/>
                <a:t>Linkify</a:t>
              </a:r>
              <a:endParaRPr 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27124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838199" y="1690688"/>
            <a:ext cx="10645558" cy="506053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Security failure: 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a scenario where the software system does not achieve its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security objective</a:t>
            </a:r>
            <a:br>
              <a:rPr lang="en-US" sz="2500" b="1" dirty="0">
                <a:latin typeface="Aptos" panose="020B0004020202020204" pitchFamily="34" charset="0"/>
                <a:cs typeface="Arial"/>
              </a:rPr>
            </a:br>
            <a:endParaRPr lang="en-US" sz="2500" b="1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Vulnerability: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the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underlying cause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of a security failure</a:t>
            </a:r>
            <a:br>
              <a:rPr lang="en-US" sz="2500" dirty="0">
                <a:latin typeface="Aptos" panose="020B0004020202020204" pitchFamily="34" charset="0"/>
                <a:cs typeface="Arial"/>
              </a:rPr>
            </a:br>
            <a:endParaRPr lang="en-US" sz="2500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Most software: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no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precise, explicit security objectives</a:t>
            </a:r>
            <a:endParaRPr lang="en-US" sz="2500" dirty="0">
              <a:latin typeface="Aptos" panose="020B0004020202020204" pitchFamily="34" charset="0"/>
              <a:cs typeface="Arial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Security objectives are not absolute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Often traded off against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performance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or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usability</a:t>
            </a:r>
            <a:br>
              <a:rPr lang="en-US" sz="2500" b="1" dirty="0">
                <a:latin typeface="Aptos" panose="020B0004020202020204" pitchFamily="34" charset="0"/>
                <a:cs typeface="Arial"/>
              </a:rPr>
            </a:br>
            <a:endParaRPr lang="en-US" sz="2500" b="1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latin typeface="Aptos" panose="020B0004020202020204" pitchFamily="34" charset="0"/>
                <a:cs typeface="Arial"/>
              </a:rPr>
              <a:t>Implementation bugs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can lead to a substantial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disruption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in the </a:t>
            </a:r>
            <a:r>
              <a:rPr lang="en-US" sz="2500" dirty="0" err="1">
                <a:latin typeface="Aptos" panose="020B0004020202020204" pitchFamily="34" charset="0"/>
                <a:cs typeface="Arial"/>
              </a:rPr>
              <a:t>behaviour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of the software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8E047-4EE2-3362-8D67-EE705FF7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Security Failure and </a:t>
            </a:r>
            <a:r>
              <a:rPr lang="en-US" dirty="0">
                <a:latin typeface="Aptos" panose="020B0004020202020204" pitchFamily="34" charset="0"/>
                <a:cs typeface="Arial"/>
              </a:rPr>
              <a:t>Vulnerability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83E645-7DD8-FE33-3A55-8E1DE0162C94}"/>
              </a:ext>
            </a:extLst>
          </p:cNvPr>
          <p:cNvSpPr/>
          <p:nvPr/>
        </p:nvSpPr>
        <p:spPr>
          <a:xfrm>
            <a:off x="644578" y="2593298"/>
            <a:ext cx="11326706" cy="4032354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70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08FA-F9EB-1B0E-F27B-796F7D86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E9C208D-0F7F-E2FF-4661-0DE22DAF5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645558" cy="506053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Security failure: 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a scenario where the software system does not achieve its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security objective</a:t>
            </a:r>
            <a:br>
              <a:rPr lang="en-US" sz="2500" b="1" dirty="0">
                <a:latin typeface="Aptos" panose="020B0004020202020204" pitchFamily="34" charset="0"/>
                <a:cs typeface="Arial"/>
              </a:rPr>
            </a:br>
            <a:endParaRPr lang="en-US" sz="2500" b="1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Vulnerability: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the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underlying cause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of a security failure</a:t>
            </a:r>
            <a:br>
              <a:rPr lang="en-US" sz="2500" dirty="0">
                <a:latin typeface="Aptos" panose="020B0004020202020204" pitchFamily="34" charset="0"/>
                <a:cs typeface="Arial"/>
              </a:rPr>
            </a:br>
            <a:endParaRPr lang="en-US" sz="2500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Most software: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no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precise, explicit security objectives</a:t>
            </a:r>
            <a:endParaRPr lang="en-US" sz="2500" dirty="0">
              <a:latin typeface="Aptos" panose="020B0004020202020204" pitchFamily="34" charset="0"/>
              <a:cs typeface="Arial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Security objectives are not absolute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Often traded off against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performance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or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usability</a:t>
            </a:r>
            <a:br>
              <a:rPr lang="en-US" sz="2500" b="1" dirty="0">
                <a:latin typeface="Aptos" panose="020B0004020202020204" pitchFamily="34" charset="0"/>
                <a:cs typeface="Arial"/>
              </a:rPr>
            </a:br>
            <a:endParaRPr lang="en-US" sz="2500" b="1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latin typeface="Aptos" panose="020B0004020202020204" pitchFamily="34" charset="0"/>
                <a:cs typeface="Arial"/>
              </a:rPr>
              <a:t>Implementation bugs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can lead to a substantial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disruption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in the </a:t>
            </a:r>
            <a:r>
              <a:rPr lang="en-US" sz="2500" dirty="0" err="1">
                <a:latin typeface="Aptos" panose="020B0004020202020204" pitchFamily="34" charset="0"/>
                <a:cs typeface="Arial"/>
              </a:rPr>
              <a:t>behaviour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of the software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ECD45-3D6E-D0E1-61C0-23C97300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Security Failure and </a:t>
            </a:r>
            <a:r>
              <a:rPr lang="en-US" dirty="0">
                <a:latin typeface="Aptos" panose="020B0004020202020204" pitchFamily="34" charset="0"/>
                <a:cs typeface="Arial"/>
              </a:rPr>
              <a:t>Vulnerability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5677D4-9573-A3DF-0099-A09873444DD8}"/>
              </a:ext>
            </a:extLst>
          </p:cNvPr>
          <p:cNvSpPr/>
          <p:nvPr/>
        </p:nvSpPr>
        <p:spPr>
          <a:xfrm>
            <a:off x="644578" y="3552668"/>
            <a:ext cx="11326706" cy="3072983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61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54D72-B177-B00B-EB8B-A432B54D3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1D52724-5228-A1DE-7FBE-B1EF8DCC0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645558" cy="506053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Security failure: 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a scenario where the software system does not achieve its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security objective</a:t>
            </a:r>
            <a:br>
              <a:rPr lang="en-US" sz="2500" b="1" dirty="0">
                <a:latin typeface="Aptos" panose="020B0004020202020204" pitchFamily="34" charset="0"/>
                <a:cs typeface="Arial"/>
              </a:rPr>
            </a:br>
            <a:endParaRPr lang="en-US" sz="2500" b="1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Vulnerability: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the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underlying cause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of a security failure</a:t>
            </a:r>
            <a:br>
              <a:rPr lang="en-US" sz="2500" dirty="0">
                <a:latin typeface="Aptos" panose="020B0004020202020204" pitchFamily="34" charset="0"/>
                <a:cs typeface="Arial"/>
              </a:rPr>
            </a:br>
            <a:endParaRPr lang="en-US" sz="2500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Most software: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no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precise, explicit security objectives</a:t>
            </a:r>
            <a:endParaRPr lang="en-US" sz="2500" dirty="0">
              <a:latin typeface="Aptos" panose="020B0004020202020204" pitchFamily="34" charset="0"/>
              <a:cs typeface="Arial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Security objectives are not absolute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Often traded off against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performance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or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usability</a:t>
            </a:r>
            <a:br>
              <a:rPr lang="en-US" sz="2500" b="1" dirty="0">
                <a:latin typeface="Aptos" panose="020B0004020202020204" pitchFamily="34" charset="0"/>
                <a:cs typeface="Arial"/>
              </a:rPr>
            </a:br>
            <a:endParaRPr lang="en-US" sz="2500" b="1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latin typeface="Aptos" panose="020B0004020202020204" pitchFamily="34" charset="0"/>
                <a:cs typeface="Arial"/>
              </a:rPr>
              <a:t>Implementation bugs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can lead to a substantial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disruption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in the </a:t>
            </a:r>
            <a:r>
              <a:rPr lang="en-US" sz="2500" dirty="0" err="1">
                <a:latin typeface="Aptos" panose="020B0004020202020204" pitchFamily="34" charset="0"/>
                <a:cs typeface="Arial"/>
              </a:rPr>
              <a:t>behaviour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of the software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6FCA1-3AEC-F99E-8FE5-7D3894F9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Security Failure and </a:t>
            </a:r>
            <a:r>
              <a:rPr lang="en-US" dirty="0">
                <a:latin typeface="Aptos" panose="020B0004020202020204" pitchFamily="34" charset="0"/>
                <a:cs typeface="Arial"/>
              </a:rPr>
              <a:t>Vulnerability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F3C01C-219A-2492-4CB6-FC6B8BD701C7}"/>
              </a:ext>
            </a:extLst>
          </p:cNvPr>
          <p:cNvSpPr/>
          <p:nvPr/>
        </p:nvSpPr>
        <p:spPr>
          <a:xfrm>
            <a:off x="644578" y="5426439"/>
            <a:ext cx="11326706" cy="1199212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12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9815C-A1D3-5394-A72E-E642491D6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4A1E86F-677F-64E3-A071-72928EC07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645558" cy="506053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Security failure: 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a scenario where the software system does not achieve its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security objective</a:t>
            </a:r>
            <a:br>
              <a:rPr lang="en-US" sz="2500" b="1" dirty="0">
                <a:latin typeface="Aptos" panose="020B0004020202020204" pitchFamily="34" charset="0"/>
                <a:cs typeface="Arial"/>
              </a:rPr>
            </a:br>
            <a:endParaRPr lang="en-US" sz="2500" b="1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Vulnerability: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the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underlying cause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of a security failure</a:t>
            </a:r>
            <a:br>
              <a:rPr lang="en-US" sz="2500" dirty="0">
                <a:latin typeface="Aptos" panose="020B0004020202020204" pitchFamily="34" charset="0"/>
                <a:cs typeface="Arial"/>
              </a:rPr>
            </a:br>
            <a:endParaRPr lang="en-US" sz="2500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Most software: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no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precise, explicit security objectives</a:t>
            </a:r>
            <a:endParaRPr lang="en-US" sz="2500" dirty="0">
              <a:latin typeface="Aptos" panose="020B0004020202020204" pitchFamily="34" charset="0"/>
              <a:cs typeface="Arial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Security objectives are not absolute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500" dirty="0">
                <a:latin typeface="Aptos" panose="020B0004020202020204" pitchFamily="34" charset="0"/>
                <a:cs typeface="Arial"/>
              </a:rPr>
              <a:t>Often traded off against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performance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or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usability</a:t>
            </a:r>
            <a:br>
              <a:rPr lang="en-US" sz="2500" b="1" dirty="0">
                <a:latin typeface="Aptos" panose="020B0004020202020204" pitchFamily="34" charset="0"/>
                <a:cs typeface="Arial"/>
              </a:rPr>
            </a:br>
            <a:endParaRPr lang="en-US" sz="2500" b="1" dirty="0">
              <a:latin typeface="Aptos" panose="020B0004020202020204" pitchFamily="34" charset="0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>
                <a:latin typeface="Aptos" panose="020B0004020202020204" pitchFamily="34" charset="0"/>
                <a:cs typeface="Arial"/>
              </a:rPr>
              <a:t>Implementation bugs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can lead to a substantial </a:t>
            </a:r>
            <a:r>
              <a:rPr lang="en-US" sz="2500" b="1" dirty="0">
                <a:latin typeface="Aptos" panose="020B0004020202020204" pitchFamily="34" charset="0"/>
                <a:cs typeface="Arial"/>
              </a:rPr>
              <a:t>disruption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in the </a:t>
            </a:r>
            <a:r>
              <a:rPr lang="en-US" sz="2500" dirty="0" err="1">
                <a:latin typeface="Aptos" panose="020B0004020202020204" pitchFamily="34" charset="0"/>
                <a:cs typeface="Arial"/>
              </a:rPr>
              <a:t>behaviour</a:t>
            </a:r>
            <a:r>
              <a:rPr lang="en-US" sz="2500" dirty="0">
                <a:latin typeface="Aptos" panose="020B0004020202020204" pitchFamily="34" charset="0"/>
                <a:cs typeface="Arial"/>
              </a:rPr>
              <a:t> of the software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8D3513-5659-4749-FFB4-944142E71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Security Failure and </a:t>
            </a:r>
            <a:r>
              <a:rPr lang="en-US" dirty="0">
                <a:latin typeface="Aptos" panose="020B0004020202020204" pitchFamily="34" charset="0"/>
                <a:cs typeface="Arial"/>
              </a:rPr>
              <a:t>Vulnerability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439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6804D-1C5C-2533-99B5-9CE8929E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F4D952B-A266-3023-C3F1-66E6E7A9A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199" y="1577078"/>
            <a:ext cx="10098860" cy="5044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marL="342865" indent="-34286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6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873" indent="-28572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marL="1142882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marL="1600034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marL="2057187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2514340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92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45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97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400" b="1" dirty="0">
                <a:latin typeface="Aptos" panose="020B0004020202020204" pitchFamily="34" charset="0"/>
                <a:cs typeface="Arial"/>
              </a:rPr>
              <a:t>Software </a:t>
            </a:r>
            <a:r>
              <a:rPr lang="en-US" sz="2400" dirty="0">
                <a:latin typeface="Aptos" panose="020B0004020202020204" pitchFamily="34" charset="0"/>
                <a:cs typeface="Arial"/>
              </a:rPr>
              <a:t>is one of the sources of</a:t>
            </a:r>
            <a:r>
              <a:rPr lang="en-US" sz="2400" b="1" dirty="0">
                <a:latin typeface="Aptos" panose="020B0004020202020204" pitchFamily="34" charset="0"/>
                <a:cs typeface="Arial"/>
              </a:rPr>
              <a:t> security problems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000" dirty="0">
                <a:latin typeface="Aptos" panose="020B0004020202020204" pitchFamily="34" charset="0"/>
                <a:cs typeface="Arial"/>
              </a:rPr>
              <a:t>Why do programmers write insecure code?</a:t>
            </a:r>
          </a:p>
          <a:p>
            <a:pPr lvl="2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cs typeface="Arial"/>
              </a:rPr>
              <a:t>Awareness is the main issue</a:t>
            </a:r>
          </a:p>
          <a:p>
            <a:pPr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400" dirty="0">
                <a:latin typeface="Aptos" panose="020B0004020202020204" pitchFamily="34" charset="0"/>
                <a:cs typeface="Arial"/>
              </a:rPr>
              <a:t>Other factors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000" dirty="0">
                <a:latin typeface="Aptos" panose="020B0004020202020204" pitchFamily="34" charset="0"/>
                <a:cs typeface="Arial"/>
              </a:rPr>
              <a:t>Limited number of </a:t>
            </a:r>
            <a:r>
              <a:rPr lang="en-US" sz="2000" b="1" dirty="0">
                <a:latin typeface="Aptos" panose="020B0004020202020204" pitchFamily="34" charset="0"/>
                <a:cs typeface="Arial"/>
              </a:rPr>
              <a:t>courses</a:t>
            </a:r>
            <a:r>
              <a:rPr lang="en-US" sz="2000" dirty="0">
                <a:latin typeface="Aptos" panose="020B0004020202020204" pitchFamily="34" charset="0"/>
                <a:cs typeface="Arial"/>
              </a:rPr>
              <a:t> in computer security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000" b="1" dirty="0">
                <a:latin typeface="Aptos" panose="020B0004020202020204" pitchFamily="34" charset="0"/>
                <a:cs typeface="Arial"/>
              </a:rPr>
              <a:t>Programming</a:t>
            </a:r>
            <a:r>
              <a:rPr lang="en-US" sz="2000" dirty="0">
                <a:latin typeface="Aptos" panose="020B0004020202020204" pitchFamily="34" charset="0"/>
                <a:cs typeface="Arial"/>
              </a:rPr>
              <a:t> textbooks do not emphasize </a:t>
            </a:r>
            <a:r>
              <a:rPr lang="en-US" sz="2000" b="1" dirty="0">
                <a:latin typeface="Aptos" panose="020B0004020202020204" pitchFamily="34" charset="0"/>
                <a:cs typeface="Arial"/>
              </a:rPr>
              <a:t>security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000" dirty="0">
                <a:latin typeface="Aptos" panose="020B0004020202020204" pitchFamily="34" charset="0"/>
                <a:cs typeface="Arial"/>
              </a:rPr>
              <a:t>Limited number of </a:t>
            </a:r>
            <a:r>
              <a:rPr lang="en-US" sz="2000" b="1" dirty="0">
                <a:latin typeface="Aptos" panose="020B0004020202020204" pitchFamily="34" charset="0"/>
                <a:cs typeface="Arial"/>
              </a:rPr>
              <a:t>security audits</a:t>
            </a:r>
            <a:r>
              <a:rPr lang="en-US" sz="2000" dirty="0">
                <a:latin typeface="Aptos" panose="020B0004020202020204" pitchFamily="34" charset="0"/>
                <a:cs typeface="Arial"/>
              </a:rPr>
              <a:t> 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000" dirty="0">
                <a:latin typeface="Aptos" panose="020B0004020202020204" pitchFamily="34" charset="0"/>
                <a:cs typeface="Arial"/>
              </a:rPr>
              <a:t>Programmers are focused on </a:t>
            </a:r>
            <a:r>
              <a:rPr lang="en-US" sz="2000" b="1" dirty="0">
                <a:latin typeface="Aptos" panose="020B0004020202020204" pitchFamily="34" charset="0"/>
                <a:cs typeface="Arial"/>
              </a:rPr>
              <a:t>implementing features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000" dirty="0">
                <a:latin typeface="Aptos" panose="020B0004020202020204" pitchFamily="34" charset="0"/>
                <a:cs typeface="Arial"/>
              </a:rPr>
              <a:t>Security is </a:t>
            </a:r>
            <a:r>
              <a:rPr lang="en-US" sz="2000" b="1" dirty="0">
                <a:latin typeface="Aptos" panose="020B0004020202020204" pitchFamily="34" charset="0"/>
                <a:cs typeface="Arial"/>
              </a:rPr>
              <a:t>expensive</a:t>
            </a:r>
            <a:r>
              <a:rPr lang="en-US" sz="2000" dirty="0">
                <a:latin typeface="Aptos" panose="020B0004020202020204" pitchFamily="34" charset="0"/>
                <a:cs typeface="Arial"/>
              </a:rPr>
              <a:t> and takes time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000" b="1" dirty="0">
                <a:latin typeface="Aptos" panose="020B0004020202020204" pitchFamily="34" charset="0"/>
                <a:cs typeface="Arial"/>
              </a:rPr>
              <a:t>Legacy software </a:t>
            </a:r>
            <a:r>
              <a:rPr lang="en-US" sz="2000" dirty="0">
                <a:latin typeface="Aptos" panose="020B0004020202020204" pitchFamily="34" charset="0"/>
                <a:cs typeface="Arial"/>
              </a:rPr>
              <a:t>(e.g., </a:t>
            </a:r>
            <a:r>
              <a:rPr lang="en-US" sz="2000" kern="0" dirty="0">
                <a:solidFill>
                  <a:srgbClr val="000000"/>
                </a:solidFill>
                <a:latin typeface="Aptos" panose="020B0004020202020204" pitchFamily="34" charset="0"/>
                <a:ea typeface="+mn-ea"/>
                <a:cs typeface="Arial"/>
              </a:rPr>
              <a:t>C is an unsafe language)</a:t>
            </a:r>
            <a:endParaRPr lang="en-US" sz="2000" dirty="0">
              <a:latin typeface="Aptos" panose="020B0004020202020204" pitchFamily="34" charset="0"/>
              <a:cs typeface="Arial"/>
            </a:endParaRP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4AB7667-7291-0760-B719-F650BB2EA053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ptos" panose="020B0004020202020204" pitchFamily="34" charset="0"/>
              </a:rPr>
              <a:t>Why are there security vulnerabilities?</a:t>
            </a:r>
          </a:p>
        </p:txBody>
      </p:sp>
    </p:spTree>
    <p:extLst>
      <p:ext uri="{BB962C8B-B14F-4D97-AF65-F5344CB8AC3E}">
        <p14:creationId xmlns:p14="http://schemas.microsoft.com/office/powerpoint/2010/main" val="4131210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6257-3FD4-5E97-DEC2-D29A1244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2B808C6-4C10-3808-F754-167F583AD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678" y="1662469"/>
            <a:ext cx="10333529" cy="450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marL="342865" indent="-34286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6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873" indent="-28572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marL="1142882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marL="1600034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marL="2057187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2514340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92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45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97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Implementation vulnerability 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(or security bug):</a:t>
            </a:r>
            <a:r>
              <a:rPr lang="en-US" dirty="0">
                <a:latin typeface="Aptos" panose="020B0004020202020204" pitchFamily="34" charset="0"/>
                <a:cs typeface="Arial"/>
              </a:rPr>
              <a:t> is bug that</a:t>
            </a:r>
            <a:endParaRPr lang="en-US" b="1" dirty="0">
              <a:latin typeface="Aptos" panose="020B0004020202020204" pitchFamily="34" charset="0"/>
              <a:cs typeface="Arial"/>
            </a:endParaRPr>
          </a:p>
          <a:p>
            <a:pPr marL="457153" lvl="1" indent="0" eaLnBrk="1" hangingPunct="1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2200" dirty="0">
                <a:latin typeface="Aptos" panose="020B0004020202020204" pitchFamily="34" charset="0"/>
                <a:cs typeface="Arial"/>
              </a:rPr>
              <a:t>-  makes it possible for an attacker to violate a </a:t>
            </a:r>
            <a:r>
              <a:rPr lang="en-US" sz="2200" b="1" dirty="0">
                <a:latin typeface="Aptos" panose="020B0004020202020204" pitchFamily="34" charset="0"/>
                <a:cs typeface="Arial"/>
              </a:rPr>
              <a:t>security objective</a:t>
            </a:r>
            <a:endParaRPr lang="en-US" sz="2200" dirty="0">
              <a:latin typeface="Aptos" panose="020B0004020202020204" pitchFamily="34" charset="0"/>
              <a:cs typeface="Arial"/>
            </a:endParaRPr>
          </a:p>
          <a:p>
            <a:pPr marL="457153" lvl="1" indent="0" eaLnBrk="1" hangingPunct="1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2200" dirty="0">
                <a:latin typeface="Aptos" panose="020B0004020202020204" pitchFamily="34" charset="0"/>
                <a:cs typeface="Arial"/>
              </a:rPr>
              <a:t>- describes vulnerabilities in widely-used software components</a:t>
            </a:r>
            <a:br>
              <a:rPr lang="en-US" sz="2200" dirty="0">
                <a:latin typeface="Aptos" panose="020B0004020202020204" pitchFamily="34" charset="0"/>
                <a:cs typeface="Arial"/>
              </a:rPr>
            </a:br>
            <a:endParaRPr lang="en-US" sz="2200" dirty="0">
              <a:latin typeface="Aptos" panose="020B0004020202020204" pitchFamily="34" charset="0"/>
              <a:cs typeface="Arial"/>
            </a:endParaRPr>
          </a:p>
          <a:p>
            <a:pPr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Common Vulnerabilities and Exposures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(CVE) </a:t>
            </a:r>
            <a:r>
              <a:rPr lang="en-US" dirty="0">
                <a:latin typeface="Aptos" panose="020B0004020202020204" pitchFamily="34" charset="0"/>
                <a:cs typeface="Arial"/>
              </a:rPr>
              <a:t>is a publicly available list of entries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ptos" panose="020B0004020202020204" pitchFamily="34" charset="0"/>
                <a:cs typeface="Arial"/>
              </a:rPr>
              <a:t>describes vulnerabilities in widely-used software components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ptos" panose="020B0004020202020204" pitchFamily="34" charset="0"/>
                <a:cs typeface="Arial"/>
              </a:rPr>
              <a:t>it lists ~</a:t>
            </a:r>
            <a:r>
              <a:rPr lang="en-US" sz="2000" b="1" dirty="0">
                <a:latin typeface="Aptos" panose="020B0004020202020204" pitchFamily="34" charset="0"/>
              </a:rPr>
              <a:t>300,000</a:t>
            </a:r>
            <a:r>
              <a:rPr lang="en-US" sz="2200" dirty="0">
                <a:latin typeface="Aptos" panose="020B0004020202020204" pitchFamily="34" charset="0"/>
                <a:cs typeface="Arial"/>
              </a:rPr>
              <a:t> security vulnerabilities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endParaRPr lang="en-US" sz="2200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956A20-9322-18BD-3B8D-8891EFB05E7F}"/>
              </a:ext>
            </a:extLst>
          </p:cNvPr>
          <p:cNvSpPr txBox="1"/>
          <p:nvPr/>
        </p:nvSpPr>
        <p:spPr>
          <a:xfrm>
            <a:off x="4596713" y="5981355"/>
            <a:ext cx="228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https://www.cve.org/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79B20F6-4269-3A4A-D511-0ED201622C32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ptos" panose="020B0004020202020204" pitchFamily="34" charset="0"/>
              </a:rPr>
              <a:t>Implementation Vulnerability</a:t>
            </a:r>
          </a:p>
        </p:txBody>
      </p:sp>
      <p:pic>
        <p:nvPicPr>
          <p:cNvPr id="7174" name="Picture 6" descr="CVE Program · GitHub">
            <a:extLst>
              <a:ext uri="{FF2B5EF4-FFF2-40B4-BE49-F238E27FC236}">
                <a16:creationId xmlns:a16="http://schemas.microsoft.com/office/drawing/2014/main" id="{879F5F05-79D9-5701-A3E0-88A65E9A6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954" y="5705646"/>
            <a:ext cx="920750" cy="92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6C3487-BF4C-57AD-2C51-E56A5F710545}"/>
              </a:ext>
            </a:extLst>
          </p:cNvPr>
          <p:cNvSpPr/>
          <p:nvPr/>
        </p:nvSpPr>
        <p:spPr>
          <a:xfrm>
            <a:off x="644578" y="3429000"/>
            <a:ext cx="11326706" cy="3196652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1365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570678" y="1662469"/>
            <a:ext cx="10333529" cy="4503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marL="342865" indent="-342865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6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1pPr>
            <a:lvl2pPr marL="742873" indent="-28572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3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2pPr>
            <a:lvl3pPr marL="1142882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3pPr>
            <a:lvl4pPr marL="1600034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4pPr>
            <a:lvl5pPr marL="2057187" indent="-228577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 kern="1200">
                <a:solidFill>
                  <a:schemeClr val="tx1"/>
                </a:solidFill>
                <a:latin typeface="Arial" pitchFamily="34" charset="0"/>
                <a:ea typeface="ＭＳ Ｐゴシック" charset="0"/>
                <a:cs typeface="Arial" pitchFamily="34" charset="0"/>
              </a:defRPr>
            </a:lvl5pPr>
            <a:lvl6pPr marL="2514340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92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45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97" indent="-228577" algn="l" defTabSz="91430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Implementation vulnerability 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(or security bug):</a:t>
            </a:r>
            <a:r>
              <a:rPr lang="en-US" dirty="0">
                <a:latin typeface="Aptos" panose="020B0004020202020204" pitchFamily="34" charset="0"/>
                <a:cs typeface="Arial"/>
              </a:rPr>
              <a:t> is bug that</a:t>
            </a:r>
            <a:endParaRPr lang="en-US" b="1" dirty="0">
              <a:latin typeface="Aptos" panose="020B0004020202020204" pitchFamily="34" charset="0"/>
              <a:cs typeface="Arial"/>
            </a:endParaRPr>
          </a:p>
          <a:p>
            <a:pPr marL="457153" lvl="1" indent="0" eaLnBrk="1" hangingPunct="1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2200" dirty="0">
                <a:latin typeface="Aptos" panose="020B0004020202020204" pitchFamily="34" charset="0"/>
                <a:cs typeface="Arial"/>
              </a:rPr>
              <a:t>-  makes it possible for an attacker to violate a </a:t>
            </a:r>
            <a:r>
              <a:rPr lang="en-US" sz="2200" b="1" dirty="0">
                <a:latin typeface="Aptos" panose="020B0004020202020204" pitchFamily="34" charset="0"/>
                <a:cs typeface="Arial"/>
              </a:rPr>
              <a:t>security objective</a:t>
            </a:r>
            <a:endParaRPr lang="en-US" sz="2200" dirty="0">
              <a:latin typeface="Aptos" panose="020B0004020202020204" pitchFamily="34" charset="0"/>
              <a:cs typeface="Arial"/>
            </a:endParaRPr>
          </a:p>
          <a:p>
            <a:pPr marL="457153" lvl="1" indent="0" eaLnBrk="1" hangingPunct="1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2200" dirty="0">
                <a:latin typeface="Aptos" panose="020B0004020202020204" pitchFamily="34" charset="0"/>
                <a:cs typeface="Arial"/>
              </a:rPr>
              <a:t>- describes vulnerabilities in widely-used software components</a:t>
            </a:r>
            <a:br>
              <a:rPr lang="en-US" sz="2200" dirty="0">
                <a:latin typeface="Aptos" panose="020B0004020202020204" pitchFamily="34" charset="0"/>
                <a:cs typeface="Arial"/>
              </a:rPr>
            </a:br>
            <a:endParaRPr lang="en-US" sz="2200" dirty="0">
              <a:latin typeface="Aptos" panose="020B0004020202020204" pitchFamily="34" charset="0"/>
              <a:cs typeface="Arial"/>
            </a:endParaRPr>
          </a:p>
          <a:p>
            <a:pPr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Common Vulnerabilities and Exposures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(CVE) </a:t>
            </a:r>
            <a:r>
              <a:rPr lang="en-US" dirty="0">
                <a:latin typeface="Aptos" panose="020B0004020202020204" pitchFamily="34" charset="0"/>
                <a:cs typeface="Arial"/>
              </a:rPr>
              <a:t>is a publicly available list of entries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ptos" panose="020B0004020202020204" pitchFamily="34" charset="0"/>
                <a:cs typeface="Arial"/>
              </a:rPr>
              <a:t>describes vulnerabilities in widely-used software components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r>
              <a:rPr lang="en-US" sz="2200" dirty="0">
                <a:latin typeface="Aptos" panose="020B0004020202020204" pitchFamily="34" charset="0"/>
                <a:cs typeface="Arial"/>
              </a:rPr>
              <a:t>it lists ~</a:t>
            </a:r>
            <a:r>
              <a:rPr lang="en-US" sz="2000" b="1" dirty="0">
                <a:latin typeface="Aptos" panose="020B0004020202020204" pitchFamily="34" charset="0"/>
              </a:rPr>
              <a:t>300,000</a:t>
            </a:r>
            <a:r>
              <a:rPr lang="en-US" sz="2200" dirty="0">
                <a:latin typeface="Aptos" panose="020B0004020202020204" pitchFamily="34" charset="0"/>
                <a:cs typeface="Arial"/>
              </a:rPr>
              <a:t> security vulnerabilities</a:t>
            </a:r>
          </a:p>
          <a:p>
            <a:pPr lvl="1" eaLnBrk="1" hangingPunct="1">
              <a:spcBef>
                <a:spcPts val="700"/>
              </a:spcBef>
              <a:spcAft>
                <a:spcPts val="700"/>
              </a:spcAft>
            </a:pPr>
            <a:endParaRPr lang="en-US" sz="2200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86F018-C206-4003-E6BC-9F6899412BEA}"/>
              </a:ext>
            </a:extLst>
          </p:cNvPr>
          <p:cNvSpPr txBox="1"/>
          <p:nvPr/>
        </p:nvSpPr>
        <p:spPr>
          <a:xfrm>
            <a:off x="4596713" y="5981355"/>
            <a:ext cx="228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https://www.cve.org/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D427D0-C7B5-6481-F8ED-EC095822C2A7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ptos" panose="020B0004020202020204" pitchFamily="34" charset="0"/>
              </a:rPr>
              <a:t>Implementation Vulnerability</a:t>
            </a:r>
          </a:p>
        </p:txBody>
      </p:sp>
      <p:pic>
        <p:nvPicPr>
          <p:cNvPr id="7174" name="Picture 6" descr="CVE Program · GitHub">
            <a:extLst>
              <a:ext uri="{FF2B5EF4-FFF2-40B4-BE49-F238E27FC236}">
                <a16:creationId xmlns:a16="http://schemas.microsoft.com/office/drawing/2014/main" id="{E77CB650-D180-43B1-2CCC-29580EEF0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5954" y="5705646"/>
            <a:ext cx="920750" cy="92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4420504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964323" y="1536472"/>
            <a:ext cx="8168640" cy="1212200"/>
          </a:xfrm>
          <a:noFill/>
          <a:ln>
            <a:noFill/>
          </a:ln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>
                <a:latin typeface="Aptos" panose="020B0004020202020204" pitchFamily="34" charset="0"/>
                <a:cs typeface="Arial"/>
              </a:rPr>
              <a:t>The number of software vulnerabilities is </a:t>
            </a:r>
            <a:r>
              <a:rPr lang="en-GB" sz="26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increasing rapidly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>
                <a:latin typeface="Aptos" panose="020B0004020202020204" pitchFamily="34" charset="0"/>
                <a:cs typeface="Arial"/>
              </a:rPr>
              <a:t>More than </a:t>
            </a:r>
            <a:r>
              <a:rPr lang="en-GB" sz="2600" b="1" dirty="0">
                <a:latin typeface="Aptos" panose="020B0004020202020204" pitchFamily="34" charset="0"/>
                <a:cs typeface="Arial"/>
              </a:rPr>
              <a:t>40,000</a:t>
            </a:r>
            <a:r>
              <a:rPr lang="en-GB" sz="2600" dirty="0">
                <a:latin typeface="Aptos" panose="020B0004020202020204" pitchFamily="34" charset="0"/>
                <a:cs typeface="Arial"/>
              </a:rPr>
              <a:t> vulnerabilities in 2025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GB" dirty="0">
              <a:latin typeface="Arial"/>
              <a:cs typeface="Arial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935C8EA-B228-394D-9408-D6EB9670CAFB}"/>
              </a:ext>
            </a:extLst>
          </p:cNvPr>
          <p:cNvGraphicFramePr/>
          <p:nvPr/>
        </p:nvGraphicFramePr>
        <p:xfrm>
          <a:off x="2242264" y="2554016"/>
          <a:ext cx="7831901" cy="3570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angle 1"/>
          <p:cNvSpPr/>
          <p:nvPr/>
        </p:nvSpPr>
        <p:spPr>
          <a:xfrm>
            <a:off x="4404595" y="6195368"/>
            <a:ext cx="3390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hlinkClick r:id="rId3"/>
              </a:rPr>
              <a:t>https://www.cvedetails.com/</a:t>
            </a:r>
            <a:endParaRPr lang="en-US" sz="2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A31D181-3A7F-1191-F7E1-7106E222F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ptos" panose="020B0004020202020204" pitchFamily="34" charset="0"/>
              </a:rPr>
              <a:t>Common Vulnerabilities and Exposures by year</a:t>
            </a:r>
          </a:p>
        </p:txBody>
      </p:sp>
    </p:spTree>
    <p:extLst>
      <p:ext uri="{BB962C8B-B14F-4D97-AF65-F5344CB8AC3E}">
        <p14:creationId xmlns:p14="http://schemas.microsoft.com/office/powerpoint/2010/main" val="2230293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89D4-BE25-CD60-D8D7-90E3D44A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C786D32-B2F0-208D-C93D-497D8F5DC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323" y="1536472"/>
            <a:ext cx="8168640" cy="1212200"/>
          </a:xfrm>
          <a:noFill/>
          <a:ln>
            <a:noFill/>
          </a:ln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  <a:normAutofit fontScale="925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>
                <a:latin typeface="Aptos" panose="020B0004020202020204" pitchFamily="34" charset="0"/>
                <a:cs typeface="Arial"/>
              </a:rPr>
              <a:t>The number of software vulnerabilities is </a:t>
            </a:r>
            <a:r>
              <a:rPr lang="en-GB" sz="26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increasing rapidly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>
                <a:latin typeface="Aptos" panose="020B0004020202020204" pitchFamily="34" charset="0"/>
                <a:cs typeface="Arial"/>
              </a:rPr>
              <a:t>More than </a:t>
            </a:r>
            <a:r>
              <a:rPr lang="en-GB" sz="2600" b="1" dirty="0">
                <a:latin typeface="Aptos" panose="020B0004020202020204" pitchFamily="34" charset="0"/>
                <a:cs typeface="Arial"/>
              </a:rPr>
              <a:t>40,000</a:t>
            </a:r>
            <a:r>
              <a:rPr lang="en-GB" sz="2600" dirty="0">
                <a:latin typeface="Aptos" panose="020B0004020202020204" pitchFamily="34" charset="0"/>
                <a:cs typeface="Arial"/>
              </a:rPr>
              <a:t> vulnerabilities in 2025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GB" dirty="0">
              <a:latin typeface="Arial"/>
              <a:cs typeface="Arial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BA35B17-DEC5-D7AE-F479-8E2AE7D25794}"/>
              </a:ext>
            </a:extLst>
          </p:cNvPr>
          <p:cNvGraphicFramePr/>
          <p:nvPr/>
        </p:nvGraphicFramePr>
        <p:xfrm>
          <a:off x="2242264" y="2554016"/>
          <a:ext cx="7831901" cy="3570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0A233A3-E180-A6EC-C674-F2A248A49BF8}"/>
              </a:ext>
            </a:extLst>
          </p:cNvPr>
          <p:cNvSpPr/>
          <p:nvPr/>
        </p:nvSpPr>
        <p:spPr>
          <a:xfrm>
            <a:off x="4404595" y="6195368"/>
            <a:ext cx="3390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hlinkClick r:id="rId3"/>
              </a:rPr>
              <a:t>https://www.cvedetails.com/</a:t>
            </a:r>
            <a:endParaRPr lang="en-US" sz="20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FABDCF-53BD-A3A8-C9A1-DE0F78D6C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ptos" panose="020B0004020202020204" pitchFamily="34" charset="0"/>
              </a:rPr>
              <a:t>Common Vulnerabilities and Exposures by year</a:t>
            </a:r>
          </a:p>
        </p:txBody>
      </p:sp>
    </p:spTree>
    <p:extLst>
      <p:ext uri="{BB962C8B-B14F-4D97-AF65-F5344CB8AC3E}">
        <p14:creationId xmlns:p14="http://schemas.microsoft.com/office/powerpoint/2010/main" val="3900218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057358E-CCB6-A621-48C6-01651CDDA316}"/>
              </a:ext>
            </a:extLst>
          </p:cNvPr>
          <p:cNvGrpSpPr/>
          <p:nvPr/>
        </p:nvGrpSpPr>
        <p:grpSpPr>
          <a:xfrm>
            <a:off x="5617312" y="1179748"/>
            <a:ext cx="5774286" cy="2998850"/>
            <a:chOff x="1008168" y="1654526"/>
            <a:chExt cx="7440451" cy="39498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09924A2-817C-0379-E79B-BA967B9FE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8168" y="1690688"/>
              <a:ext cx="7440451" cy="391369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BF21A7-5376-47C2-217B-B92745F7D179}"/>
                </a:ext>
              </a:extLst>
            </p:cNvPr>
            <p:cNvSpPr/>
            <p:nvPr/>
          </p:nvSpPr>
          <p:spPr>
            <a:xfrm>
              <a:off x="1135627" y="1654526"/>
              <a:ext cx="2462980" cy="618891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74020" y="1551660"/>
            <a:ext cx="6177592" cy="4746477"/>
          </a:xfrm>
          <a:noFill/>
          <a:ln>
            <a:noFill/>
          </a:ln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  <a:normAutofit/>
          </a:bodyPr>
          <a:lstStyle/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28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By type/</a:t>
            </a:r>
            <a:r>
              <a:rPr lang="en-GB" sz="2800" dirty="0" err="1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catgory</a:t>
            </a:r>
            <a:endParaRPr lang="en-GB" sz="2800" dirty="0">
              <a:solidFill>
                <a:srgbClr val="C00000"/>
              </a:solidFill>
              <a:latin typeface="Aptos" panose="020B0004020202020204" pitchFamily="34" charset="0"/>
              <a:cs typeface="Arial"/>
            </a:endParaRPr>
          </a:p>
          <a:p>
            <a:pPr marL="971550" lvl="1" indent="-51435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2800" dirty="0">
                <a:latin typeface="Aptos" panose="020B0004020202020204" pitchFamily="34" charset="0"/>
                <a:cs typeface="Arial"/>
              </a:rPr>
              <a:t>XSS (Cross-site scripting)</a:t>
            </a:r>
          </a:p>
          <a:p>
            <a:pPr marL="971550" lvl="1" indent="-51435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GB" sz="2800" dirty="0">
                <a:latin typeface="Aptos" panose="020B0004020202020204" pitchFamily="34" charset="0"/>
                <a:cs typeface="Arial"/>
              </a:rPr>
              <a:t>Memory Corruption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2800" dirty="0">
                <a:latin typeface="Aptos" panose="020B0004020202020204" pitchFamily="34" charset="0"/>
                <a:cs typeface="Arial"/>
              </a:rPr>
              <a:t>4.   SQL Injection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2800" dirty="0">
                <a:latin typeface="Aptos" panose="020B0004020202020204" pitchFamily="34" charset="0"/>
                <a:cs typeface="Arial"/>
              </a:rPr>
              <a:t>…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endParaRPr lang="en-GB" sz="2800" dirty="0">
              <a:latin typeface="Aptos" panose="020B0004020202020204" pitchFamily="34" charset="0"/>
              <a:cs typeface="Arial"/>
            </a:endParaRP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2800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By impact type</a:t>
            </a:r>
          </a:p>
          <a:p>
            <a:pPr marL="971550" lvl="1" indent="-514350"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en-GB" sz="2800" dirty="0">
                <a:latin typeface="Aptos" panose="020B0004020202020204" pitchFamily="34" charset="0"/>
                <a:cs typeface="Arial"/>
              </a:rPr>
              <a:t>Denial of Service</a:t>
            </a:r>
          </a:p>
          <a:p>
            <a:pPr marL="457200" lvl="1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GB" sz="2800" dirty="0">
                <a:latin typeface="Aptos" panose="020B0004020202020204" pitchFamily="34" charset="0"/>
                <a:cs typeface="Arial"/>
              </a:rPr>
              <a:t>…</a:t>
            </a:r>
          </a:p>
          <a:p>
            <a:pPr marL="971550" lvl="1" indent="-51435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endParaRPr lang="en-GB" sz="2800" dirty="0">
              <a:latin typeface="Aptos" panose="020B0004020202020204" pitchFamily="34" charset="0"/>
              <a:cs typeface="Arial"/>
            </a:endParaRPr>
          </a:p>
          <a:p>
            <a:pPr marL="971550" lvl="1" indent="-51435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endParaRPr lang="en-GB" sz="2800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B375222-3105-7199-200D-3FBC06A84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12517" cy="1325563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sz="4000">
                <a:latin typeface="Aptos" panose="020B0004020202020204" pitchFamily="34" charset="0"/>
                <a:cs typeface="Arial"/>
              </a:rPr>
              <a:t>Most Common Vulnerabilities (since 2015)</a:t>
            </a:r>
            <a:endParaRPr lang="en-GB" sz="4000" dirty="0">
              <a:latin typeface="Aptos" panose="020B0004020202020204" pitchFamily="34" charset="0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B7AB6D-6199-ACDF-8A43-30ABE6866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371" y="4164079"/>
            <a:ext cx="2650168" cy="20312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B88D89C-0AEB-B948-B2AF-117FB2923BFE}"/>
              </a:ext>
            </a:extLst>
          </p:cNvPr>
          <p:cNvSpPr/>
          <p:nvPr/>
        </p:nvSpPr>
        <p:spPr>
          <a:xfrm>
            <a:off x="4404595" y="6195368"/>
            <a:ext cx="33906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hlinkClick r:id="rId4"/>
              </a:rPr>
              <a:t>https://www.cvedetails.com/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157369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E939-F014-8B77-09B4-F927D0BF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2361E2-F9F0-F3EF-BA7D-5C500AC48396}"/>
              </a:ext>
            </a:extLst>
          </p:cNvPr>
          <p:cNvSpPr/>
          <p:nvPr/>
        </p:nvSpPr>
        <p:spPr>
          <a:xfrm>
            <a:off x="9038530" y="52923"/>
            <a:ext cx="158855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  <a:cs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78832F-06B7-51AF-0F40-33D1D762B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70716"/>
              </p:ext>
            </p:extLst>
          </p:nvPr>
        </p:nvGraphicFramePr>
        <p:xfrm>
          <a:off x="6443069" y="2644894"/>
          <a:ext cx="5426898" cy="1877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13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4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Scope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Impact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425">
                <a:tc>
                  <a:txBody>
                    <a:bodyPr/>
                    <a:lstStyle/>
                    <a:p>
                      <a:r>
                        <a:rPr lang="en-US" sz="2000" dirty="0"/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Crash, exit and restart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501">
                <a:tc>
                  <a:txBody>
                    <a:bodyPr/>
                    <a:lstStyle/>
                    <a:p>
                      <a:r>
                        <a:rPr lang="en-US" sz="2000" dirty="0"/>
                        <a:t>Integrity</a:t>
                      </a:r>
                    </a:p>
                    <a:p>
                      <a:r>
                        <a:rPr lang="en-US" sz="2000" dirty="0"/>
                        <a:t>Confidentiality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Execute Unauthorized Code or Commands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D4C958-09BB-114A-B766-96C85773921F}"/>
              </a:ext>
            </a:extLst>
          </p:cNvPr>
          <p:cNvSpPr txBox="1">
            <a:spLocks/>
          </p:cNvSpPr>
          <p:nvPr/>
        </p:nvSpPr>
        <p:spPr bwMode="auto">
          <a:xfrm>
            <a:off x="838199" y="4838695"/>
            <a:ext cx="4718479" cy="1654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T Extra" charset="0"/>
              <a:buChar char="&gt;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109526" indent="0" algn="ctr" eaLnBrk="1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None/>
              <a:defRPr/>
            </a:pP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Occurs when the application dereferences a pointer that it expects to be valid, but is NULL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4C16AD-D5D5-5199-7509-70CEE2BD9072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000000"/>
                </a:solidFill>
                <a:latin typeface="Aptos Display" panose="020B0004020202020204" pitchFamily="34" charset="0"/>
                <a:cs typeface="Arial" charset="0"/>
              </a:rPr>
              <a:t>Memory Corruption:</a:t>
            </a:r>
          </a:p>
          <a:p>
            <a:r>
              <a:rPr lang="en-GB" dirty="0">
                <a:solidFill>
                  <a:srgbClr val="C00000"/>
                </a:solidFill>
                <a:latin typeface="Aptos Display" panose="020B0004020202020204" pitchFamily="34" charset="0"/>
                <a:cs typeface="Arial" charset="0"/>
              </a:rPr>
              <a:t>Null Pointer Dereference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B6EC32-F99A-1142-8404-07E9798B5941}"/>
              </a:ext>
            </a:extLst>
          </p:cNvPr>
          <p:cNvSpPr txBox="1"/>
          <p:nvPr/>
        </p:nvSpPr>
        <p:spPr>
          <a:xfrm>
            <a:off x="838199" y="1881779"/>
            <a:ext cx="5051324" cy="2640466"/>
          </a:xfrm>
          <a:prstGeom prst="rect">
            <a:avLst/>
          </a:prstGeom>
          <a:solidFill>
            <a:srgbClr val="FFFF00">
              <a:alpha val="15000"/>
            </a:srgbClr>
          </a:solidFill>
          <a:ln w="12700">
            <a:solidFill>
              <a:schemeClr val="bg2">
                <a:lumMod val="25000"/>
              </a:schemeClr>
            </a:solidFill>
          </a:ln>
        </p:spPr>
        <p:txBody>
          <a:bodyPr wrap="square" lIns="9144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fr-FR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fr-FR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  <a:r>
              <a:rPr lang="fr-FR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 {</a:t>
            </a:r>
          </a:p>
          <a:p>
            <a:pPr>
              <a:lnSpc>
                <a:spcPct val="150000"/>
              </a:lnSpc>
            </a:pP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double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 *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p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 = </a:t>
            </a:r>
            <a:r>
              <a:rPr lang="mr-IN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NULL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int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 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n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 = 8;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 </a:t>
            </a: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mr-IN" sz="1400" b="1" dirty="0" err="1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for</a:t>
            </a: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(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int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 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i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 = 0; 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i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 &lt; 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n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; ++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i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)</a:t>
            </a: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{</a:t>
            </a:r>
            <a:endParaRPr lang="mr-IN" sz="1400" dirty="0">
              <a:latin typeface="Menlo" panose="020B0609030804020204" pitchFamily="49" charset="0"/>
              <a:ea typeface="Menlo" panose="020B0609030804020204" pitchFamily="49" charset="0"/>
              <a:cs typeface="Arial"/>
            </a:endParaRPr>
          </a:p>
          <a:p>
            <a:pPr>
              <a:lnSpc>
                <a:spcPct val="150000"/>
              </a:lnSpc>
            </a:pP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  </a:t>
            </a: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mr-IN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*(</a:t>
            </a:r>
            <a:r>
              <a:rPr lang="mr-IN" sz="1400" b="1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p+i</a:t>
            </a:r>
            <a:r>
              <a:rPr lang="mr-IN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) = </a:t>
            </a:r>
            <a:r>
              <a:rPr lang="mr-IN" sz="1400" b="1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i</a:t>
            </a:r>
            <a:r>
              <a:rPr lang="mr-IN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Arial"/>
              </a:rPr>
              <a:t>*2;</a:t>
            </a:r>
            <a:endParaRPr lang="de-DE" sz="1400" b="1" dirty="0">
              <a:solidFill>
                <a:srgbClr val="C0000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}</a:t>
            </a:r>
            <a:endParaRPr lang="en-US" sz="14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return 0;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4712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9CBC5-A597-4714-3E4A-547265A5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B41B60-814D-22F0-F64B-91C634C26A06}"/>
              </a:ext>
            </a:extLst>
          </p:cNvPr>
          <p:cNvSpPr/>
          <p:nvPr/>
        </p:nvSpPr>
        <p:spPr>
          <a:xfrm>
            <a:off x="9038530" y="52923"/>
            <a:ext cx="158855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A2D77E1-8839-168B-01DD-A07823555804}"/>
              </a:ext>
            </a:extLst>
          </p:cNvPr>
          <p:cNvSpPr txBox="1">
            <a:spLocks/>
          </p:cNvSpPr>
          <p:nvPr/>
        </p:nvSpPr>
        <p:spPr bwMode="auto">
          <a:xfrm>
            <a:off x="838199" y="4838695"/>
            <a:ext cx="5724833" cy="1654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MT Extra" charset="0"/>
              <a:buChar char="&gt;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The code calls </a:t>
            </a:r>
            <a:r>
              <a:rPr lang="en-US" i="1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free()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 twice on the same memory address, </a:t>
            </a:r>
            <a:r>
              <a:rPr lang="en-US" u="sng" dirty="0">
                <a:solidFill>
                  <a:srgbClr val="C00000"/>
                </a:solidFill>
                <a:latin typeface="Aptos" panose="020B0004020202020204" pitchFamily="34" charset="0"/>
                <a:cs typeface="Arial"/>
              </a:rPr>
              <a:t>leading to modification of unexpected memory locations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6EDF959-E36E-431B-5D5B-1E90F22A2EB3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000000"/>
                </a:solidFill>
                <a:latin typeface="Aptos Display" panose="020B0004020202020204" pitchFamily="34" charset="0"/>
                <a:cs typeface="Arial" charset="0"/>
              </a:rPr>
              <a:t>Memory Corruption: </a:t>
            </a:r>
          </a:p>
          <a:p>
            <a:r>
              <a:rPr lang="en-GB" dirty="0">
                <a:solidFill>
                  <a:srgbClr val="C00000"/>
                </a:solidFill>
                <a:latin typeface="Aptos Display" panose="020B0004020202020204" pitchFamily="34" charset="0"/>
                <a:cs typeface="Arial" charset="0"/>
              </a:rPr>
              <a:t>Double Free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E1588-2EAF-3475-60DE-E388E9BF5503}"/>
              </a:ext>
            </a:extLst>
          </p:cNvPr>
          <p:cNvSpPr txBox="1"/>
          <p:nvPr/>
        </p:nvSpPr>
        <p:spPr>
          <a:xfrm>
            <a:off x="838199" y="1881779"/>
            <a:ext cx="5051324" cy="2640466"/>
          </a:xfrm>
          <a:prstGeom prst="rect">
            <a:avLst/>
          </a:prstGeom>
          <a:solidFill>
            <a:srgbClr val="FFFF00">
              <a:alpha val="15000"/>
            </a:srgbClr>
          </a:solidFill>
          <a:ln w="12700">
            <a:solidFill>
              <a:schemeClr val="bg2">
                <a:lumMod val="25000"/>
              </a:schemeClr>
            </a:solidFill>
          </a:ln>
        </p:spPr>
        <p:txBody>
          <a:bodyPr wrap="square" lIns="91440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fr-FR" sz="1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fr-FR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fr-FR" sz="1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</a:t>
            </a:r>
            <a:r>
              <a:rPr lang="fr-FR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(){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</a:rPr>
              <a:t>  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char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* 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ptr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 = (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char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 *)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malloc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(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sizeof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(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char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));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</a:rPr>
              <a:t>  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if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(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ptr</a:t>
            </a: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</a:rPr>
              <a:t> 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==</a:t>
            </a: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</a:rPr>
              <a:t> 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NULL)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return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 -1;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de-DE" sz="1400" dirty="0">
                <a:latin typeface="Menlo" panose="020B0609030804020204" pitchFamily="49" charset="0"/>
                <a:ea typeface="Menlo" panose="020B0609030804020204" pitchFamily="49" charset="0"/>
              </a:rPr>
              <a:t>  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*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ptr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 = '</a:t>
            </a:r>
            <a:r>
              <a:rPr lang="mr-IN" sz="1400" dirty="0" err="1">
                <a:latin typeface="Menlo" panose="020B0609030804020204" pitchFamily="49" charset="0"/>
                <a:ea typeface="Menlo" panose="020B0609030804020204" pitchFamily="49" charset="0"/>
              </a:rPr>
              <a:t>a</a:t>
            </a:r>
            <a:r>
              <a:rPr lang="mr-IN" sz="1400" dirty="0">
                <a:latin typeface="Menlo" panose="020B0609030804020204" pitchFamily="49" charset="0"/>
                <a:ea typeface="Menlo" panose="020B0609030804020204" pitchFamily="49" charset="0"/>
              </a:rPr>
              <a:t>’;</a:t>
            </a: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de-DE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</a:rPr>
              <a:t>  </a:t>
            </a:r>
            <a:r>
              <a:rPr lang="mr-IN" sz="1400" b="1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</a:rPr>
              <a:t>free</a:t>
            </a:r>
            <a:r>
              <a:rPr lang="mr-IN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</a:rPr>
              <a:t>(</a:t>
            </a:r>
            <a:r>
              <a:rPr lang="mr-IN" sz="1400" b="1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</a:rPr>
              <a:t>ptr</a:t>
            </a:r>
            <a:r>
              <a:rPr lang="mr-IN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</a:rPr>
              <a:t>);</a:t>
            </a:r>
            <a:r>
              <a:rPr lang="en-US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de-DE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</a:rPr>
              <a:t>  </a:t>
            </a:r>
            <a:r>
              <a:rPr lang="mr-IN" sz="1400" b="1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</a:rPr>
              <a:t>free</a:t>
            </a:r>
            <a:r>
              <a:rPr lang="mr-IN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</a:rPr>
              <a:t>(</a:t>
            </a:r>
            <a:r>
              <a:rPr lang="mr-IN" sz="1400" b="1" dirty="0" err="1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</a:rPr>
              <a:t>ptr</a:t>
            </a:r>
            <a:r>
              <a:rPr lang="mr-IN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</a:rPr>
              <a:t>);</a:t>
            </a:r>
            <a:r>
              <a:rPr lang="en-US" sz="1400" b="1" dirty="0">
                <a:solidFill>
                  <a:srgbClr val="C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​</a:t>
            </a:r>
          </a:p>
          <a:p>
            <a:pPr fontAlgn="base">
              <a:lnSpc>
                <a:spcPct val="150000"/>
              </a:lnSpc>
            </a:pP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0;</a:t>
            </a:r>
          </a:p>
          <a:p>
            <a:pPr fontAlgn="base">
              <a:lnSpc>
                <a:spcPct val="150000"/>
              </a:lnSpc>
            </a:pPr>
            <a:r>
              <a:rPr lang="en-US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CC13CB-23D1-B963-E405-25F8635A5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12236"/>
              </p:ext>
            </p:extLst>
          </p:nvPr>
        </p:nvGraphicFramePr>
        <p:xfrm>
          <a:off x="6563032" y="2019305"/>
          <a:ext cx="5426898" cy="24757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13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42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Scope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Impact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42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u="sng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Could</a:t>
                      </a:r>
                      <a:r>
                        <a:rPr lang="en-US" sz="20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 Crash, exit and restart; </a:t>
                      </a:r>
                      <a:r>
                        <a:rPr lang="en-US" sz="2000" u="sng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could</a:t>
                      </a:r>
                      <a:r>
                        <a:rPr lang="en-US" sz="20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 also run silently corrupt heap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501">
                <a:tc>
                  <a:txBody>
                    <a:bodyPr/>
                    <a:lstStyle/>
                    <a:p>
                      <a:r>
                        <a:rPr lang="en-US" sz="2000" dirty="0"/>
                        <a:t>Integrity</a:t>
                      </a:r>
                    </a:p>
                    <a:p>
                      <a:r>
                        <a:rPr lang="en-US" sz="2000" dirty="0"/>
                        <a:t>Confidentiality</a:t>
                      </a:r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Execute Unauthorized Code or Commands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79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838199" y="2002890"/>
            <a:ext cx="8763000" cy="4115026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x-none" sz="28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cs typeface="Arial" charset="0"/>
              </a:rPr>
              <a:t>Null pointer dereference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x-none" sz="28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cs typeface="Arial" charset="0"/>
              </a:rPr>
              <a:t>Double free</a:t>
            </a:r>
            <a:endParaRPr lang="en-US" sz="2800" dirty="0">
              <a:solidFill>
                <a:schemeClr val="bg1">
                  <a:lumMod val="85000"/>
                </a:schemeClr>
              </a:solidFill>
              <a:latin typeface="Aptos" panose="020B0004020202020204" pitchFamily="34" charset="0"/>
              <a:cs typeface="Arial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Aptos" panose="020B0004020202020204" pitchFamily="34" charset="0"/>
                <a:cs typeface="Arial" charset="0"/>
              </a:rPr>
              <a:t>Unchecked Return Value to NULL 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x-none" sz="2800">
                <a:latin typeface="Aptos" panose="020B0004020202020204" pitchFamily="34" charset="0"/>
                <a:cs typeface="Arial" charset="0"/>
              </a:rPr>
              <a:t>Division </a:t>
            </a:r>
            <a:r>
              <a:rPr lang="x-none" sz="2800" dirty="0">
                <a:latin typeface="Aptos" panose="020B0004020202020204" pitchFamily="34" charset="0"/>
                <a:cs typeface="Arial" charset="0"/>
              </a:rPr>
              <a:t>by zero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x-none" sz="2800" dirty="0">
                <a:latin typeface="Aptos" panose="020B0004020202020204" pitchFamily="34" charset="0"/>
                <a:cs typeface="Arial" charset="0"/>
              </a:rPr>
              <a:t>Missing free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x-none" sz="2800" dirty="0">
                <a:latin typeface="Aptos" panose="020B0004020202020204" pitchFamily="34" charset="0"/>
                <a:cs typeface="Arial" charset="0"/>
              </a:rPr>
              <a:t>Use </a:t>
            </a:r>
            <a:r>
              <a:rPr lang="x-none" sz="2800">
                <a:latin typeface="Aptos" panose="020B0004020202020204" pitchFamily="34" charset="0"/>
                <a:cs typeface="Arial" charset="0"/>
              </a:rPr>
              <a:t>after free</a:t>
            </a:r>
            <a:endParaRPr lang="en-US" sz="2800" dirty="0">
              <a:latin typeface="Aptos" panose="020B0004020202020204" pitchFamily="34" charset="0"/>
              <a:cs typeface="Arial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dirty="0">
                <a:latin typeface="Aptos" panose="020B0004020202020204" pitchFamily="34" charset="0"/>
                <a:cs typeface="Arial" charset="0"/>
              </a:rPr>
              <a:t>…</a:t>
            </a:r>
            <a:endParaRPr lang="x-none" sz="2800" dirty="0">
              <a:latin typeface="Aptos" panose="020B0004020202020204" pitchFamily="34" charset="0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038530" y="52923"/>
            <a:ext cx="158855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en-US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7022A2-6A01-B70A-EFC3-0052BCFAA46E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000000"/>
                </a:solidFill>
                <a:latin typeface="Aptos Display" panose="020B0004020202020204" pitchFamily="34" charset="0"/>
                <a:cs typeface="Arial" charset="0"/>
              </a:rPr>
              <a:t>Memory Corruption: </a:t>
            </a:r>
          </a:p>
          <a:p>
            <a:r>
              <a:rPr lang="en-GB" dirty="0">
                <a:solidFill>
                  <a:srgbClr val="C00000"/>
                </a:solidFill>
                <a:latin typeface="Aptos Display" panose="020B0004020202020204" pitchFamily="34" charset="0"/>
                <a:cs typeface="Arial" charset="0"/>
              </a:rPr>
              <a:t>Other types</a:t>
            </a:r>
          </a:p>
        </p:txBody>
      </p:sp>
    </p:spTree>
    <p:extLst>
      <p:ext uri="{BB962C8B-B14F-4D97-AF65-F5344CB8AC3E}">
        <p14:creationId xmlns:p14="http://schemas.microsoft.com/office/powerpoint/2010/main" val="24618740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0560" y="1310642"/>
            <a:ext cx="8435280" cy="1056639"/>
          </a:xfrm>
        </p:spPr>
        <p:txBody>
          <a:bodyPr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dirty="0"/>
              <a:t>SQL injection allows an attacker to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interfere with the queries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to the database </a:t>
            </a:r>
            <a:r>
              <a:rPr lang="en-US" dirty="0"/>
              <a:t>to retrieve </a:t>
            </a:r>
            <a:r>
              <a:rPr lang="en-US" b="1" dirty="0"/>
              <a:t>data </a:t>
            </a:r>
            <a:r>
              <a:rPr lang="en-US" dirty="0"/>
              <a:t> 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362" y="2540001"/>
            <a:ext cx="5223827" cy="294300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359017" y="6147649"/>
            <a:ext cx="57708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hlinkClick r:id="rId3"/>
              </a:rPr>
              <a:t>https://portswigger.net/web-security/sql-injection</a:t>
            </a:r>
            <a:endParaRPr lang="en-US" sz="1800" dirty="0"/>
          </a:p>
        </p:txBody>
      </p:sp>
      <p:sp>
        <p:nvSpPr>
          <p:cNvPr id="6" name="Rectangle 5"/>
          <p:cNvSpPr/>
          <p:nvPr/>
        </p:nvSpPr>
        <p:spPr>
          <a:xfrm>
            <a:off x="1952217" y="2998432"/>
            <a:ext cx="3429144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126000" indent="-1800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nl-NL" sz="2000" dirty="0" err="1">
                <a:latin typeface="Aptos" panose="020B0004020202020204" pitchFamily="34" charset="0"/>
                <a:cs typeface="Arial"/>
              </a:rPr>
              <a:t>retrieving</a:t>
            </a:r>
            <a:r>
              <a:rPr lang="nl-NL" sz="2000" dirty="0">
                <a:latin typeface="Aptos" panose="020B0004020202020204" pitchFamily="34" charset="0"/>
                <a:cs typeface="Arial"/>
              </a:rPr>
              <a:t> </a:t>
            </a:r>
            <a:r>
              <a:rPr lang="nl-NL" sz="2000" dirty="0" err="1">
                <a:latin typeface="Aptos" panose="020B0004020202020204" pitchFamily="34" charset="0"/>
                <a:cs typeface="Arial"/>
              </a:rPr>
              <a:t>hidden</a:t>
            </a:r>
            <a:r>
              <a:rPr lang="nl-NL" sz="2000" dirty="0">
                <a:latin typeface="Aptos" panose="020B0004020202020204" pitchFamily="34" charset="0"/>
                <a:cs typeface="Arial"/>
              </a:rPr>
              <a:t> data</a:t>
            </a:r>
          </a:p>
          <a:p>
            <a:pPr marL="126000" indent="-1800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000" dirty="0">
                <a:latin typeface="Aptos" panose="020B0004020202020204" pitchFamily="34" charset="0"/>
                <a:cs typeface="Arial"/>
              </a:rPr>
              <a:t>subverting application logic</a:t>
            </a:r>
          </a:p>
          <a:p>
            <a:pPr marL="126000" indent="-1800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000" dirty="0">
                <a:latin typeface="Aptos" panose="020B0004020202020204" pitchFamily="34" charset="0"/>
                <a:cs typeface="Arial"/>
              </a:rPr>
              <a:t>UNION attacks</a:t>
            </a:r>
          </a:p>
          <a:p>
            <a:pPr marL="126000" indent="-1800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en-US" sz="2000" dirty="0">
                <a:latin typeface="Aptos" panose="020B0004020202020204" pitchFamily="34" charset="0"/>
                <a:cs typeface="Arial"/>
              </a:rPr>
              <a:t>examining the database</a:t>
            </a:r>
          </a:p>
          <a:p>
            <a:pPr marL="126000" indent="-180000">
              <a:spcBef>
                <a:spcPts val="600"/>
              </a:spcBef>
              <a:spcAft>
                <a:spcPts val="600"/>
              </a:spcAft>
              <a:buFontTx/>
              <a:buChar char="-"/>
            </a:pPr>
            <a:r>
              <a:rPr lang="fr-FR" sz="2000" dirty="0" err="1">
                <a:latin typeface="Aptos" panose="020B0004020202020204" pitchFamily="34" charset="0"/>
                <a:cs typeface="Arial"/>
              </a:rPr>
              <a:t>blind</a:t>
            </a:r>
            <a:r>
              <a:rPr lang="fr-FR" sz="2000" dirty="0">
                <a:latin typeface="Aptos" panose="020B0004020202020204" pitchFamily="34" charset="0"/>
                <a:cs typeface="Arial"/>
              </a:rPr>
              <a:t> SQL injection</a:t>
            </a:r>
            <a:endParaRPr lang="en-US" sz="2000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A01DF0E-3126-30CF-C937-25B91FF6BABC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000000"/>
                </a:solidFill>
                <a:latin typeface="Aptos Display" panose="020B0004020202020204" pitchFamily="34" charset="0"/>
                <a:cs typeface="Arial" charset="0"/>
              </a:rPr>
              <a:t>SQL Injection</a:t>
            </a:r>
          </a:p>
        </p:txBody>
      </p:sp>
    </p:spTree>
    <p:extLst>
      <p:ext uri="{BB962C8B-B14F-4D97-AF65-F5344CB8AC3E}">
        <p14:creationId xmlns:p14="http://schemas.microsoft.com/office/powerpoint/2010/main" val="10393845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10642"/>
            <a:ext cx="9537641" cy="5018609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A programmer can construct a SQL query with the intention to check </a:t>
            </a:r>
            <a:r>
              <a:rPr lang="en-US" b="1" dirty="0"/>
              <a:t>name</a:t>
            </a:r>
            <a:r>
              <a:rPr lang="en-US" dirty="0"/>
              <a:t> and </a:t>
            </a:r>
            <a:r>
              <a:rPr lang="en-US" b="1" dirty="0"/>
              <a:t>password </a:t>
            </a:r>
            <a:r>
              <a:rPr lang="en-US" dirty="0"/>
              <a:t>as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endParaRPr lang="en-US" b="1" dirty="0"/>
          </a:p>
          <a:p>
            <a:pPr>
              <a:spcBef>
                <a:spcPts val="800"/>
              </a:spcBef>
              <a:spcAft>
                <a:spcPts val="800"/>
              </a:spcAft>
            </a:pPr>
            <a:endParaRPr lang="en-US" b="1" dirty="0"/>
          </a:p>
          <a:p>
            <a:pPr>
              <a:spcBef>
                <a:spcPts val="800"/>
              </a:spcBef>
              <a:spcAft>
                <a:spcPts val="800"/>
              </a:spcAft>
            </a:pPr>
            <a:endParaRPr lang="en-US" b="1" dirty="0"/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dirty="0">
                <a:latin typeface="Aptos" panose="020B0004020202020204" pitchFamily="34" charset="0"/>
              </a:rPr>
              <a:t>However, if the name string is provided by an attacker, the attacker can set name to 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“John’ --” 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this would remove the password check from the query! </a:t>
            </a:r>
            <a:r>
              <a:rPr lang="en-US" dirty="0">
                <a:latin typeface="Aptos" panose="020B0004020202020204" pitchFamily="34" charset="0"/>
              </a:rPr>
              <a:t>(note that -- starts a comment in SQL)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7438" y="2782669"/>
            <a:ext cx="7714020" cy="64633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urier"/>
                <a:cs typeface="Courier"/>
              </a:rPr>
              <a:t>query = "select * from users where name=’" + </a:t>
            </a:r>
            <a:r>
              <a:rPr lang="en-US" b="1" dirty="0">
                <a:solidFill>
                  <a:srgbClr val="C00000"/>
                </a:solidFill>
                <a:latin typeface="Courier"/>
                <a:cs typeface="Courier"/>
              </a:rPr>
              <a:t>name</a:t>
            </a:r>
            <a:r>
              <a:rPr lang="en-US" dirty="0">
                <a:solidFill>
                  <a:srgbClr val="C00000"/>
                </a:solidFill>
                <a:latin typeface="Courier"/>
                <a:cs typeface="Courier"/>
              </a:rPr>
              <a:t> + "’" and pw = ’" + </a:t>
            </a:r>
            <a:r>
              <a:rPr lang="en-US" b="1" dirty="0">
                <a:solidFill>
                  <a:srgbClr val="C00000"/>
                </a:solidFill>
                <a:latin typeface="Courier"/>
                <a:cs typeface="Courier"/>
              </a:rPr>
              <a:t>password</a:t>
            </a:r>
            <a:r>
              <a:rPr lang="en-US" dirty="0">
                <a:solidFill>
                  <a:srgbClr val="C00000"/>
                </a:solidFill>
                <a:latin typeface="Courier"/>
                <a:cs typeface="Courier"/>
              </a:rPr>
              <a:t> + "’"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032990-FF1A-F645-CC12-1DE57FE38501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rgbClr val="000000"/>
                </a:solidFill>
                <a:latin typeface="Aptos Display" panose="020B0004020202020204" pitchFamily="34" charset="0"/>
                <a:cs typeface="Arial" charset="0"/>
              </a:rPr>
              <a:t>SQL Injection: Example</a:t>
            </a:r>
          </a:p>
        </p:txBody>
      </p:sp>
    </p:spTree>
    <p:extLst>
      <p:ext uri="{BB962C8B-B14F-4D97-AF65-F5344CB8AC3E}">
        <p14:creationId xmlns:p14="http://schemas.microsoft.com/office/powerpoint/2010/main" val="13802473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53158"/>
            <a:ext cx="9621706" cy="4947920"/>
          </a:xfrm>
          <a:ln w="0">
            <a:noFill/>
          </a:ln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XSS attacks represent </a:t>
            </a:r>
            <a:r>
              <a:rPr lang="en-US" b="1" dirty="0">
                <a:solidFill>
                  <a:srgbClr val="C00000"/>
                </a:solidFill>
              </a:rPr>
              <a:t>injection of malicious scripts into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trusted websites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ptos" panose="020B0004020202020204" pitchFamily="34" charset="0"/>
              </a:rPr>
              <a:t>XSS allows attackers to 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</a:rPr>
              <a:t>bypass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Aptos" panose="020B0004020202020204" pitchFamily="34" charset="0"/>
              </a:rPr>
              <a:t>access controls</a:t>
            </a:r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ptos" panose="020B0004020202020204" pitchFamily="34" charset="0"/>
              </a:rPr>
              <a:t>If </a:t>
            </a:r>
            <a:r>
              <a:rPr lang="en-US" i="1" dirty="0" err="1">
                <a:latin typeface="Aptos" panose="020B0004020202020204" pitchFamily="34" charset="0"/>
                <a:cs typeface="Verdana"/>
              </a:rPr>
              <a:t>eid</a:t>
            </a:r>
            <a:r>
              <a:rPr lang="en-US" dirty="0">
                <a:latin typeface="Aptos" panose="020B0004020202020204" pitchFamily="34" charset="0"/>
              </a:rPr>
              <a:t> has a value that includes source code, then the code will be executed by the web browser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ptos" panose="020B0004020202020204" pitchFamily="34" charset="0"/>
              </a:rPr>
              <a:t>use e-mail or social engineering tricks to lead victims to visit a link to another 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2562891"/>
            <a:ext cx="68986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&lt;% String </a:t>
            </a:r>
            <a:r>
              <a:rPr lang="en-US" sz="2000" dirty="0" err="1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eid</a:t>
            </a:r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 = </a:t>
            </a:r>
            <a:r>
              <a:rPr lang="en-US" sz="2000" dirty="0" err="1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request.getParameter</a:t>
            </a:r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("</a:t>
            </a:r>
            <a:r>
              <a:rPr lang="en-US" sz="2000" dirty="0" err="1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eid</a:t>
            </a:r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"); %&gt; </a:t>
            </a:r>
          </a:p>
          <a:p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...</a:t>
            </a:r>
          </a:p>
          <a:p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Employee ID: &lt;%= </a:t>
            </a:r>
            <a:r>
              <a:rPr lang="en-US" sz="2000" dirty="0" err="1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eid</a:t>
            </a:r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  <a:cs typeface="Verdana"/>
              </a:rPr>
              <a:t> %&gt;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FA2366-3CEC-597B-36E9-C9B9D73C671F}"/>
              </a:ext>
            </a:extLst>
          </p:cNvPr>
          <p:cNvSpPr txBox="1"/>
          <p:nvPr/>
        </p:nvSpPr>
        <p:spPr>
          <a:xfrm>
            <a:off x="5146532" y="6376523"/>
            <a:ext cx="185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More xss attacks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73FCC5-ACF7-10D9-D4EF-59163A07FD76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ptos Display" panose="020B0004020202020204" pitchFamily="34" charset="0"/>
                <a:cs typeface="Arial"/>
              </a:rPr>
              <a:t>Cross-site Scripting (XSS) Attack</a:t>
            </a:r>
            <a:endParaRPr lang="en-GB" dirty="0">
              <a:solidFill>
                <a:srgbClr val="000000"/>
              </a:solidFill>
              <a:latin typeface="Aptos Display" panose="020B0004020202020204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03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4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05917"/>
            <a:ext cx="10515602" cy="3423284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A </a:t>
            </a:r>
            <a:r>
              <a:rPr lang="en-US" dirty="0" err="1"/>
              <a:t>DoS</a:t>
            </a:r>
            <a:r>
              <a:rPr lang="en-US" dirty="0"/>
              <a:t> attack makes a machine or network resource unavailable to its intended users 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US" b="1" dirty="0"/>
              <a:t>Flood attacks</a:t>
            </a:r>
            <a:r>
              <a:rPr lang="en-US" dirty="0"/>
              <a:t> occur when the system receives too much traffic for the server to buffer, causing them to slow down</a:t>
            </a:r>
            <a:endParaRPr lang="en-US" b="1" dirty="0"/>
          </a:p>
          <a:p>
            <a:pPr lvl="1">
              <a:spcBef>
                <a:spcPts val="800"/>
              </a:spcBef>
              <a:spcAft>
                <a:spcPts val="800"/>
              </a:spcAft>
            </a:pPr>
            <a:r>
              <a:rPr lang="en-US" b="1" dirty="0"/>
              <a:t>Crashing attacks </a:t>
            </a:r>
            <a:r>
              <a:rPr lang="en-US" dirty="0"/>
              <a:t>exploit vulnerabilities that cause the target system or service to crash </a:t>
            </a:r>
          </a:p>
          <a:p>
            <a:pPr lvl="1">
              <a:spcBef>
                <a:spcPts val="800"/>
              </a:spcBef>
              <a:spcAft>
                <a:spcPts val="800"/>
              </a:spcAft>
            </a:pPr>
            <a:endParaRPr lang="en-US" dirty="0"/>
          </a:p>
          <a:p>
            <a:pPr marL="457200" lvl="1" indent="0">
              <a:spcBef>
                <a:spcPts val="800"/>
              </a:spcBef>
              <a:spcAft>
                <a:spcPts val="800"/>
              </a:spcAft>
              <a:buNone/>
            </a:pPr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1A9E4-3048-4E9E-BA9F-7D78E8F918C4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ptos Display" panose="020B0004020202020204" pitchFamily="34" charset="0"/>
                <a:cs typeface="Arial"/>
              </a:rPr>
              <a:t>Denial of Service (DoS) Attack</a:t>
            </a:r>
            <a:endParaRPr lang="en-GB" dirty="0">
              <a:solidFill>
                <a:srgbClr val="000000"/>
              </a:solidFill>
              <a:latin typeface="Aptos Display" panose="020B0004020202020204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85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79B0-F051-3C35-C0F4-DA45F2096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third-party tools or services (“supply chain”) to gain access to a target system or network. 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E1A844-FB92-E94A-369D-3B890C1CC02E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081251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Aptos Display" panose="020B0004020202020204" pitchFamily="34" charset="0"/>
                <a:cs typeface="Arial"/>
              </a:rPr>
              <a:t>Supply Chain Attacks</a:t>
            </a:r>
            <a:endParaRPr lang="en-GB" dirty="0">
              <a:solidFill>
                <a:srgbClr val="000000"/>
              </a:solidFill>
              <a:latin typeface="Aptos Display" panose="020B0004020202020204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5075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2EF29-FB31-CD56-CDF5-4BD380851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737D-1866-C1AE-6C9A-4EB02ACBF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a supply chain attack carried out?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79925-8E9B-EA07-C8CB-3901E3929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Attacker gain access to the third-party system they plan to exploit (“Upstream” attack)</a:t>
            </a:r>
          </a:p>
          <a:p>
            <a:pPr lvl="1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Using stolen credentials, targeting vendors with temporary access to an organization’s system, or exploiting an unknown software vulnerability, among other methods</a:t>
            </a:r>
          </a:p>
          <a:p>
            <a:pPr lvl="1"/>
            <a:endParaRPr lang="en-GB" b="0" i="0" dirty="0">
              <a:solidFill>
                <a:srgbClr val="222222"/>
              </a:solidFill>
              <a:effectLst/>
              <a:latin typeface="-apple-system"/>
            </a:endParaRPr>
          </a:p>
          <a:p>
            <a:pPr algn="l"/>
            <a:r>
              <a:rPr lang="en-GB" b="0" i="0" dirty="0">
                <a:solidFill>
                  <a:srgbClr val="222222"/>
                </a:solidFill>
                <a:effectLst/>
                <a:latin typeface="-apple-system"/>
              </a:rPr>
              <a:t>Once the Upstream attack is done, the “Downstream” attack is performed when that malicious code executes on end-user devices, e.g., via a routine software update.</a:t>
            </a:r>
          </a:p>
        </p:txBody>
      </p:sp>
    </p:spTree>
    <p:extLst>
      <p:ext uri="{BB962C8B-B14F-4D97-AF65-F5344CB8AC3E}">
        <p14:creationId xmlns:p14="http://schemas.microsoft.com/office/powerpoint/2010/main" val="49755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6FEC-E90B-9D7C-B7A5-78A305A08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E5BC6-15E7-B7DA-50A2-1E573939A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Supply Chain “Upstream”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0CB0B-6BE4-5053-88AF-FABA20D68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Browser-based attacks </a:t>
            </a:r>
          </a:p>
          <a:p>
            <a:pPr lvl="1"/>
            <a:r>
              <a:rPr lang="en-GB" dirty="0">
                <a:solidFill>
                  <a:srgbClr val="222222"/>
                </a:solidFill>
                <a:latin typeface="Aptos" panose="020B0004020202020204" pitchFamily="34" charset="0"/>
              </a:rPr>
              <a:t>R</a:t>
            </a:r>
            <a:r>
              <a:rPr lang="en-GB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un malicious code on end-user browsers. </a:t>
            </a:r>
            <a:endParaRPr lang="en-GB" dirty="0">
              <a:solidFill>
                <a:srgbClr val="222222"/>
              </a:solidFill>
              <a:latin typeface="-apple-system"/>
            </a:endParaRPr>
          </a:p>
          <a:p>
            <a:r>
              <a:rPr lang="en-GB" dirty="0">
                <a:solidFill>
                  <a:srgbClr val="222222"/>
                </a:solidFill>
                <a:latin typeface="Aptos" panose="020B0004020202020204" pitchFamily="34" charset="0"/>
              </a:rPr>
              <a:t>Software attacks </a:t>
            </a:r>
          </a:p>
          <a:p>
            <a:pPr lvl="1"/>
            <a:r>
              <a:rPr lang="en-GB" dirty="0">
                <a:solidFill>
                  <a:srgbClr val="222222"/>
                </a:solidFill>
                <a:latin typeface="Aptos" panose="020B0004020202020204" pitchFamily="34" charset="0"/>
              </a:rPr>
              <a:t>Disguise malware in software updates.</a:t>
            </a:r>
          </a:p>
          <a:p>
            <a:r>
              <a:rPr lang="en-GB" dirty="0">
                <a:solidFill>
                  <a:srgbClr val="222222"/>
                </a:solidFill>
                <a:latin typeface="Aptos" panose="020B0004020202020204" pitchFamily="34" charset="0"/>
              </a:rPr>
              <a:t>Open-source attacks </a:t>
            </a:r>
          </a:p>
          <a:p>
            <a:pPr lvl="1"/>
            <a:r>
              <a:rPr lang="en-GB" dirty="0">
                <a:solidFill>
                  <a:srgbClr val="222222"/>
                </a:solidFill>
                <a:latin typeface="Aptos" panose="020B0004020202020204" pitchFamily="34" charset="0"/>
              </a:rPr>
              <a:t>Exploit vulnerabilities in open-source code. </a:t>
            </a:r>
          </a:p>
          <a:p>
            <a:r>
              <a:rPr lang="en-GB" dirty="0">
                <a:solidFill>
                  <a:srgbClr val="222222"/>
                </a:solidFill>
                <a:latin typeface="Aptos" panose="020B0004020202020204" pitchFamily="34" charset="0"/>
              </a:rPr>
              <a:t>Etc…</a:t>
            </a:r>
          </a:p>
        </p:txBody>
      </p:sp>
    </p:spTree>
    <p:extLst>
      <p:ext uri="{BB962C8B-B14F-4D97-AF65-F5344CB8AC3E}">
        <p14:creationId xmlns:p14="http://schemas.microsoft.com/office/powerpoint/2010/main" val="27256636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76FEC-E90B-9D7C-B7A5-78A305A08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E5BC6-15E7-B7DA-50A2-1E573939A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prevent Supply Chain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0CB0B-6BE4-5053-88AF-FABA20D68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rgbClr val="222222"/>
                </a:solidFill>
                <a:latin typeface="Aptos"/>
              </a:rPr>
              <a:t>Code audit</a:t>
            </a:r>
          </a:p>
          <a:p>
            <a:endParaRPr lang="en-GB" dirty="0">
              <a:solidFill>
                <a:srgbClr val="222222"/>
              </a:solidFill>
            </a:endParaRPr>
          </a:p>
          <a:p>
            <a:r>
              <a:rPr lang="en-GB" dirty="0">
                <a:solidFill>
                  <a:srgbClr val="222222"/>
                </a:solidFill>
              </a:rPr>
              <a:t>Choose third-party software carefully</a:t>
            </a:r>
          </a:p>
          <a:p>
            <a:endParaRPr lang="en-GB" dirty="0">
              <a:solidFill>
                <a:srgbClr val="222222"/>
              </a:solidFill>
            </a:endParaRPr>
          </a:p>
          <a:p>
            <a:r>
              <a:rPr lang="en-GB" dirty="0">
                <a:solidFill>
                  <a:srgbClr val="222222"/>
                </a:solidFill>
              </a:rPr>
              <a:t>Etc</a:t>
            </a:r>
          </a:p>
        </p:txBody>
      </p:sp>
    </p:spTree>
    <p:extLst>
      <p:ext uri="{BB962C8B-B14F-4D97-AF65-F5344CB8AC3E}">
        <p14:creationId xmlns:p14="http://schemas.microsoft.com/office/powerpoint/2010/main" val="1727135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840F-5B33-D55D-C3F7-A8ABE8536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7A53-5FE7-000A-B37A-9EDF3D74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205C9-8C92-595A-2B19-A1450DE57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SolarWinds attack in 2018 </a:t>
            </a:r>
          </a:p>
          <a:p>
            <a:pPr lvl="1"/>
            <a:r>
              <a:rPr lang="en-US" dirty="0"/>
              <a:t>U</a:t>
            </a:r>
            <a:r>
              <a:rPr lang="en-US" sz="2400" dirty="0"/>
              <a:t>sed to transmit malware to clients of SolarWinds software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Detailed discussion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Linux XZ vulnerability in March 2024 </a:t>
            </a:r>
            <a:endParaRPr lang="en-US" sz="2000" dirty="0"/>
          </a:p>
          <a:p>
            <a:pPr lvl="1"/>
            <a:r>
              <a:rPr lang="en-US" dirty="0"/>
              <a:t>allowed attacker to execute arbitrary commands through ssh)</a:t>
            </a:r>
          </a:p>
          <a:p>
            <a:pPr lvl="1"/>
            <a:r>
              <a:rPr lang="en-US" dirty="0">
                <a:hlinkClick r:id="rId3"/>
              </a:rPr>
              <a:t>Detailed discussion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043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99ACD-7F5F-C5DB-039A-B89797499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1E1A2-2ED2-40B2-09F6-D45AC3A8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Rust Programming Language: Memory Safety without sacrificing  performance</a:t>
            </a:r>
          </a:p>
        </p:txBody>
      </p:sp>
      <p:pic>
        <p:nvPicPr>
          <p:cNvPr id="23554" name="Picture 2" descr="Rust (programming language) - Wikipedia">
            <a:extLst>
              <a:ext uri="{FF2B5EF4-FFF2-40B4-BE49-F238E27FC236}">
                <a16:creationId xmlns:a16="http://schemas.microsoft.com/office/drawing/2014/main" id="{FD9E38C5-9815-5188-563E-98694F016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945" y="2289748"/>
            <a:ext cx="2027420" cy="202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7870D3-5305-5DE3-AE64-CB6CD262E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417" y="2005481"/>
            <a:ext cx="7396396" cy="38406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solidFill>
                  <a:srgbClr val="C00000"/>
                </a:solidFill>
                <a:latin typeface="Aptos" panose="020B0004020202020204" pitchFamily="34" charset="0"/>
              </a:rPr>
              <a:t>Eliminates</a:t>
            </a:r>
            <a:r>
              <a:rPr lang="en-GB" dirty="0">
                <a:solidFill>
                  <a:srgbClr val="222222"/>
                </a:solidFill>
                <a:latin typeface="Aptos" panose="020B0004020202020204" pitchFamily="34" charset="0"/>
              </a:rPr>
              <a:t> an entire class of memory</a:t>
            </a:r>
            <a:r>
              <a:rPr lang="en-US" dirty="0">
                <a:latin typeface="Aptos" panose="020B0004020202020204" pitchFamily="34" charset="0"/>
              </a:rPr>
              <a:t>-safety vulnerabilities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Aptos" panose="020B0004020202020204" pitchFamily="34" charset="0"/>
              </a:rPr>
              <a:t>Performance comparable </a:t>
            </a:r>
            <a:r>
              <a:rPr lang="en-US" dirty="0">
                <a:latin typeface="Aptos" panose="020B0004020202020204" pitchFamily="34" charset="0"/>
              </a:rPr>
              <a:t>to C/C++ (no garbage collection)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altLang="en-US" dirty="0">
                <a:solidFill>
                  <a:srgbClr val="C00000"/>
                </a:solidFill>
                <a:latin typeface="Aptos" panose="020B0004020202020204" pitchFamily="34" charset="0"/>
              </a:rPr>
              <a:t>Strong type system </a:t>
            </a:r>
            <a:r>
              <a:rPr lang="en-US" altLang="en-US" dirty="0">
                <a:latin typeface="Aptos" panose="020B0004020202020204" pitchFamily="34" charset="0"/>
              </a:rPr>
              <a:t>reduces logic &amp; API misuse errors (a bit tedious to write)</a:t>
            </a:r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GB" dirty="0">
              <a:solidFill>
                <a:srgbClr val="222222"/>
              </a:solidFill>
            </a:endParaRPr>
          </a:p>
          <a:p>
            <a:endParaRPr lang="en-GB" dirty="0">
              <a:solidFill>
                <a:srgbClr val="222222"/>
              </a:solidFill>
            </a:endParaRPr>
          </a:p>
        </p:txBody>
      </p:sp>
      <p:pic>
        <p:nvPicPr>
          <p:cNvPr id="23562" name="Picture 10" descr="Rust (programming language) - Wikipedia">
            <a:extLst>
              <a:ext uri="{FF2B5EF4-FFF2-40B4-BE49-F238E27FC236}">
                <a16:creationId xmlns:a16="http://schemas.microsoft.com/office/drawing/2014/main" id="{4F2AEC06-2E8E-A91B-E451-9FD5E7AFE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356" y="4500900"/>
            <a:ext cx="1814331" cy="121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93BA59-9C87-572E-C448-DFEB1C4F6058}"/>
              </a:ext>
            </a:extLst>
          </p:cNvPr>
          <p:cNvSpPr txBox="1"/>
          <p:nvPr/>
        </p:nvSpPr>
        <p:spPr>
          <a:xfrm>
            <a:off x="2064896" y="6160957"/>
            <a:ext cx="806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C00000"/>
                </a:solidFill>
              </a:rPr>
              <a:t>Any 2025 programmer may want to have Rust on their stack!</a:t>
            </a:r>
          </a:p>
        </p:txBody>
      </p:sp>
    </p:spTree>
    <p:extLst>
      <p:ext uri="{BB962C8B-B14F-4D97-AF65-F5344CB8AC3E}">
        <p14:creationId xmlns:p14="http://schemas.microsoft.com/office/powerpoint/2010/main" val="39052002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CB33-E3B1-4B22-8FCE-37A8A18A2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8C679-60D3-00BC-E42C-EBDAB14F6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422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Security is a fundamental part of software engineering</a:t>
            </a:r>
          </a:p>
          <a:p>
            <a:pPr lvl="1"/>
            <a:r>
              <a:rPr lang="en-US" dirty="0"/>
              <a:t>System security = CIA: Confidentiality, Integrity, Availability</a:t>
            </a:r>
          </a:p>
          <a:p>
            <a:endParaRPr lang="en-US" dirty="0"/>
          </a:p>
          <a:p>
            <a:r>
              <a:rPr lang="en-US" dirty="0"/>
              <a:t>Security failure</a:t>
            </a:r>
          </a:p>
          <a:p>
            <a:pPr lvl="1"/>
            <a:r>
              <a:rPr lang="en-US" dirty="0">
                <a:latin typeface="Aptos" panose="020B0004020202020204" pitchFamily="34" charset="0"/>
                <a:cs typeface="Arial"/>
              </a:rPr>
              <a:t>Scenario where the software system doesn’t meet </a:t>
            </a:r>
            <a:r>
              <a:rPr lang="en-US" b="1" dirty="0">
                <a:latin typeface="Aptos" panose="020B0004020202020204" pitchFamily="34" charset="0"/>
                <a:cs typeface="Arial"/>
              </a:rPr>
              <a:t>security objectives</a:t>
            </a:r>
          </a:p>
          <a:p>
            <a:pPr lvl="1"/>
            <a:r>
              <a:rPr lang="en-US" dirty="0">
                <a:latin typeface="Aptos" panose="020B0004020202020204" pitchFamily="34" charset="0"/>
                <a:cs typeface="Arial"/>
              </a:rPr>
              <a:t>Security</a:t>
            </a:r>
            <a:r>
              <a:rPr lang="en-US" b="1" dirty="0">
                <a:latin typeface="Aptos" panose="020B0004020202020204" pitchFamily="34" charset="0"/>
                <a:cs typeface="Arial"/>
              </a:rPr>
              <a:t> </a:t>
            </a:r>
            <a:r>
              <a:rPr lang="en-US" dirty="0">
                <a:latin typeface="Aptos" panose="020B0004020202020204" pitchFamily="34" charset="0"/>
                <a:cs typeface="Arial"/>
              </a:rPr>
              <a:t>Vulnerability</a:t>
            </a:r>
            <a:r>
              <a:rPr lang="en-US" b="1" dirty="0">
                <a:latin typeface="Aptos" panose="020B0004020202020204" pitchFamily="34" charset="0"/>
                <a:cs typeface="Arial"/>
              </a:rPr>
              <a:t>: </a:t>
            </a:r>
            <a:endParaRPr lang="en-US" dirty="0"/>
          </a:p>
          <a:p>
            <a:endParaRPr lang="en-US" dirty="0"/>
          </a:p>
          <a:p>
            <a:r>
              <a:rPr lang="en-US" dirty="0"/>
              <a:t>Different Types of Security Vulnerabilities</a:t>
            </a:r>
          </a:p>
          <a:p>
            <a:pPr lvl="1"/>
            <a:r>
              <a:rPr lang="en-US" dirty="0"/>
              <a:t>Memory Corruption</a:t>
            </a:r>
          </a:p>
          <a:p>
            <a:pPr lvl="1"/>
            <a:r>
              <a:rPr lang="en-US" dirty="0"/>
              <a:t>XSS attacks</a:t>
            </a:r>
          </a:p>
          <a:p>
            <a:pPr lvl="1"/>
            <a:r>
              <a:rPr lang="en-US" dirty="0"/>
              <a:t>SQL Injections</a:t>
            </a:r>
          </a:p>
          <a:p>
            <a:pPr lvl="1"/>
            <a:r>
              <a:rPr lang="en-US" dirty="0"/>
              <a:t>DoS</a:t>
            </a:r>
          </a:p>
          <a:p>
            <a:pPr lvl="1"/>
            <a:r>
              <a:rPr lang="en-US" dirty="0"/>
              <a:t>Supply chain attacks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069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b9m3zhozwnw965q98gzt75zpj7xz4m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14123</TotalTime>
  <Words>2859</Words>
  <Application>Microsoft Macintosh PowerPoint</Application>
  <PresentationFormat>Widescreen</PresentationFormat>
  <Paragraphs>451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-apple-system</vt:lpstr>
      <vt:lpstr>Aptos</vt:lpstr>
      <vt:lpstr>Aptos Display</vt:lpstr>
      <vt:lpstr>Arial</vt:lpstr>
      <vt:lpstr>Courier</vt:lpstr>
      <vt:lpstr>Helvetica Neue</vt:lpstr>
      <vt:lpstr>Menlo</vt:lpstr>
      <vt:lpstr>Office Theme</vt:lpstr>
      <vt:lpstr>Software Engineering 1: Introduction to Software Security</vt:lpstr>
      <vt:lpstr>Pre-cap</vt:lpstr>
      <vt:lpstr>Pre-cap</vt:lpstr>
      <vt:lpstr>Pre-cap</vt:lpstr>
      <vt:lpstr>Motivating Example</vt:lpstr>
      <vt:lpstr>Motivating Example</vt:lpstr>
      <vt:lpstr>Motivating Example</vt:lpstr>
      <vt:lpstr>Motivating Example</vt:lpstr>
      <vt:lpstr>Motivating Example</vt:lpstr>
      <vt:lpstr>Motivating Example</vt:lpstr>
      <vt:lpstr>Motivating Example</vt:lpstr>
      <vt:lpstr>Motivating Example</vt:lpstr>
      <vt:lpstr>Motivating Example</vt:lpstr>
      <vt:lpstr>What is Security?</vt:lpstr>
      <vt:lpstr>What is Security?</vt:lpstr>
      <vt:lpstr>What is Security?</vt:lpstr>
      <vt:lpstr>What is Security?</vt:lpstr>
      <vt:lpstr>Threat Model</vt:lpstr>
      <vt:lpstr>CIA Principle: Expectations of Secure Systems</vt:lpstr>
      <vt:lpstr>CIA Principle: Expectations of Secure Systems</vt:lpstr>
      <vt:lpstr>Example: Social Network Application</vt:lpstr>
      <vt:lpstr>Example: Social Network Application</vt:lpstr>
      <vt:lpstr>Example: Social Network Application</vt:lpstr>
      <vt:lpstr>Example: Social Network Application</vt:lpstr>
      <vt:lpstr>Security Failure and Vulnerability</vt:lpstr>
      <vt:lpstr>Security Failure and Vulnerability</vt:lpstr>
      <vt:lpstr>Security Failure and Vulnerability</vt:lpstr>
      <vt:lpstr>Security Failure and Vulnerability</vt:lpstr>
      <vt:lpstr>PowerPoint Presentation</vt:lpstr>
      <vt:lpstr>PowerPoint Presentation</vt:lpstr>
      <vt:lpstr>PowerPoint Presentation</vt:lpstr>
      <vt:lpstr>Common Vulnerabilities and Exposures by year</vt:lpstr>
      <vt:lpstr>Common Vulnerabilities and Exposures by year</vt:lpstr>
      <vt:lpstr>Most Common Vulnerabilities (since 2015)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is a supply chain attack carried out? </vt:lpstr>
      <vt:lpstr>Types of Supply Chain “Upstream” Attacks</vt:lpstr>
      <vt:lpstr>How to prevent Supply Chain Attacks</vt:lpstr>
      <vt:lpstr>Real World Examples</vt:lpstr>
      <vt:lpstr>The Rust Programming Language: Memory Safety without sacrificing  performance</vt:lpstr>
      <vt:lpstr>Take-Aways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1: Lecture Title</dc:title>
  <dc:creator>Bijan Parsia</dc:creator>
  <cp:lastModifiedBy>Dominik Winterer</cp:lastModifiedBy>
  <cp:revision>123</cp:revision>
  <dcterms:created xsi:type="dcterms:W3CDTF">2024-08-28T17:15:43Z</dcterms:created>
  <dcterms:modified xsi:type="dcterms:W3CDTF">2025-12-03T23:30:46Z</dcterms:modified>
</cp:coreProperties>
</file>